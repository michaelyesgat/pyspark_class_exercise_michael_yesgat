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96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Yesgat" userId="51f5999cd7e46e83" providerId="LiveId" clId="{9AD58859-AC3E-40C5-B6E1-18D805075A28}"/>
    <pc:docChg chg="modSld">
      <pc:chgData name="Michael Yesgat" userId="51f5999cd7e46e83" providerId="LiveId" clId="{9AD58859-AC3E-40C5-B6E1-18D805075A28}" dt="2026-07-29T18:06:11.371" v="19" actId="20577"/>
      <pc:docMkLst>
        <pc:docMk/>
      </pc:docMkLst>
      <pc:sldChg chg="modSp mod modNotesTx">
        <pc:chgData name="Michael Yesgat" userId="51f5999cd7e46e83" providerId="LiveId" clId="{9AD58859-AC3E-40C5-B6E1-18D805075A28}" dt="2026-07-29T18:06:11.371" v="19" actId="20577"/>
        <pc:sldMkLst>
          <pc:docMk/>
          <pc:sldMk cId="2009129580" sldId="256"/>
        </pc:sldMkLst>
        <pc:spChg chg="mod">
          <ac:chgData name="Michael Yesgat" userId="51f5999cd7e46e83" providerId="LiveId" clId="{9AD58859-AC3E-40C5-B6E1-18D805075A28}" dt="2026-07-29T18:06:11.371" v="19" actId="20577"/>
          <ac:spMkLst>
            <pc:docMk/>
            <pc:sldMk cId="2009129580" sldId="256"/>
            <ac:spMk id="3" creationId="{3FE09EC9-25F0-40EB-A681-9D45B9319217}"/>
          </ac:spMkLst>
        </pc:spChg>
      </pc:sldChg>
      <pc:sldChg chg="modNotesTx">
        <pc:chgData name="Michael Yesgat" userId="51f5999cd7e46e83" providerId="LiveId" clId="{9AD58859-AC3E-40C5-B6E1-18D805075A28}" dt="2026-07-28T04:59:34.728" v="0" actId="20577"/>
        <pc:sldMkLst>
          <pc:docMk/>
          <pc:sldMk cId="1161926234" sldId="257"/>
        </pc:sldMkLst>
      </pc:sldChg>
      <pc:sldChg chg="modNotesTx">
        <pc:chgData name="Michael Yesgat" userId="51f5999cd7e46e83" providerId="LiveId" clId="{9AD58859-AC3E-40C5-B6E1-18D805075A28}" dt="2026-07-28T04:59:51.767" v="2" actId="20577"/>
        <pc:sldMkLst>
          <pc:docMk/>
          <pc:sldMk cId="253329019" sldId="258"/>
        </pc:sldMkLst>
      </pc:sldChg>
      <pc:sldChg chg="modNotesTx">
        <pc:chgData name="Michael Yesgat" userId="51f5999cd7e46e83" providerId="LiveId" clId="{9AD58859-AC3E-40C5-B6E1-18D805075A28}" dt="2026-07-28T04:59:57.816" v="3" actId="20577"/>
        <pc:sldMkLst>
          <pc:docMk/>
          <pc:sldMk cId="414162341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">
            <a:extLst>
              <a:ext uri="{FF2B5EF4-FFF2-40B4-BE49-F238E27FC236}">
                <a16:creationId xmlns:a16="http://schemas.microsoft.com/office/drawing/2014/main" id="{F67A9810-7B66-4105-83D0-550C15B67433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 PRACTICAL WORKFLOW</a:t>
            </a:r>
          </a:p>
        </p:txBody>
      </p:sp>
      <p:sp>
        <p:nvSpPr>
          <p:cNvPr id="2" name="deck-title">
            <a:extLst>
              <a:ext uri="{FF2B5EF4-FFF2-40B4-BE49-F238E27FC236}">
                <a16:creationId xmlns:a16="http://schemas.microsoft.com/office/drawing/2014/main" id="{B0223047-8229-48F3-80D7-647B72E1D726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1000125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dbt + Snowflake</a:t>
            </a:r>
          </a:p>
        </p:txBody>
      </p:sp>
      <p:sp>
        <p:nvSpPr>
          <p:cNvPr id="3" name="deck-subtitle">
            <a:extLst>
              <a:ext uri="{FF2B5EF4-FFF2-40B4-BE49-F238E27FC236}">
                <a16:creationId xmlns:a16="http://schemas.microsoft.com/office/drawing/2014/main" id="{3FE09EC9-25F0-40EB-A681-9D45B9319217}"/>
              </a:ext>
            </a:extLst>
          </p:cNvPr>
          <p:cNvSpPr>
            <a:spLocks noGrp="1"/>
          </p:cNvSpPr>
          <p:nvPr/>
        </p:nvSpPr>
        <p:spPr>
          <a:xfrm>
            <a:off x="393668" y="4695825"/>
            <a:ext cx="8572500" cy="11239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2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2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Michael Yesgat</a:t>
            </a:r>
            <a:endParaRPr sz="2250" dirty="0">
              <a:solidFill>
                <a:srgbClr val="4A4A4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title-accent-rule">
            <a:extLst>
              <a:ext uri="{FF2B5EF4-FFF2-40B4-BE49-F238E27FC236}">
                <a16:creationId xmlns:a16="http://schemas.microsoft.com/office/drawing/2014/main" id="{61E110E5-F86F-4DE1-A668-595E8547FAA9}"/>
              </a:ext>
            </a:extLst>
          </p:cNvPr>
          <p:cNvSpPr>
            <a:spLocks noGrp="1"/>
          </p:cNvSpPr>
          <p:nvPr/>
        </p:nvSpPr>
        <p:spPr>
          <a:xfrm>
            <a:off x="10096500" y="1738789"/>
            <a:ext cx="1695450" cy="1143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2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2-title">
            <a:extLst>
              <a:ext uri="{FF2B5EF4-FFF2-40B4-BE49-F238E27FC236}">
                <a16:creationId xmlns:a16="http://schemas.microsoft.com/office/drawing/2014/main" id="{D8E0E2F6-8467-4C04-8BC1-548091E438CD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dbt transforms data where it already lives</a:t>
            </a:r>
          </a:p>
        </p:txBody>
      </p:sp>
      <p:sp>
        <p:nvSpPr>
          <p:cNvPr id="2" name="elt-timeline">
            <a:extLst>
              <a:ext uri="{FF2B5EF4-FFF2-40B4-BE49-F238E27FC236}">
                <a16:creationId xmlns:a16="http://schemas.microsoft.com/office/drawing/2014/main" id="{32CB1226-ECC7-4A16-9C4C-1D2CA55B0912}"/>
              </a:ext>
            </a:extLst>
          </p:cNvPr>
          <p:cNvSpPr>
            <a:spLocks noGrp="1"/>
          </p:cNvSpPr>
          <p:nvPr/>
        </p:nvSpPr>
        <p:spPr>
          <a:xfrm>
            <a:off x="337757" y="3364230"/>
            <a:ext cx="1145857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aw-dot">
            <a:extLst>
              <a:ext uri="{FF2B5EF4-FFF2-40B4-BE49-F238E27FC236}">
                <a16:creationId xmlns:a16="http://schemas.microsoft.com/office/drawing/2014/main" id="{08D008EA-F693-4BB0-8294-1997F9C7596A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dbt-dot">
            <a:extLst>
              <a:ext uri="{FF2B5EF4-FFF2-40B4-BE49-F238E27FC236}">
                <a16:creationId xmlns:a16="http://schemas.microsoft.com/office/drawing/2014/main" id="{C178F37B-980C-4E5B-B0EF-933DEB35EDDC}"/>
              </a:ext>
            </a:extLst>
          </p:cNvPr>
          <p:cNvSpPr>
            <a:spLocks noGrp="1"/>
          </p:cNvSpPr>
          <p:nvPr/>
        </p:nvSpPr>
        <p:spPr>
          <a:xfrm>
            <a:off x="4251770" y="3271838"/>
            <a:ext cx="203835" cy="203835"/>
          </a:xfrm>
          <a:prstGeom prst="ellipse">
            <a:avLst/>
          </a:prstGeom>
          <a:solidFill>
            <a:srgbClr val="3D8DFF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nalytics-dot">
            <a:extLst>
              <a:ext uri="{FF2B5EF4-FFF2-40B4-BE49-F238E27FC236}">
                <a16:creationId xmlns:a16="http://schemas.microsoft.com/office/drawing/2014/main" id="{A1B54BB3-ED3A-46C1-8DA5-AA3C8EFAA9D9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land-label">
            <a:extLst>
              <a:ext uri="{FF2B5EF4-FFF2-40B4-BE49-F238E27FC236}">
                <a16:creationId xmlns:a16="http://schemas.microsoft.com/office/drawing/2014/main" id="{3019C84D-628C-43D0-83E9-5CD5AE97279B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LOAD</a:t>
            </a:r>
          </a:p>
        </p:txBody>
      </p:sp>
      <p:sp>
        <p:nvSpPr>
          <p:cNvPr id="7" name="transform-label">
            <a:extLst>
              <a:ext uri="{FF2B5EF4-FFF2-40B4-BE49-F238E27FC236}">
                <a16:creationId xmlns:a16="http://schemas.microsoft.com/office/drawing/2014/main" id="{3244960C-C573-4EDB-8446-DD42E568C50B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2095500" cy="2624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2. TRANSFORM</a:t>
            </a:r>
          </a:p>
        </p:txBody>
      </p:sp>
      <p:sp>
        <p:nvSpPr>
          <p:cNvPr id="8" name="serve-label">
            <a:extLst>
              <a:ext uri="{FF2B5EF4-FFF2-40B4-BE49-F238E27FC236}">
                <a16:creationId xmlns:a16="http://schemas.microsoft.com/office/drawing/2014/main" id="{4787D521-8A36-4F8C-AD16-159BF08FFE26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SERVE</a:t>
            </a:r>
          </a:p>
        </p:txBody>
      </p:sp>
      <p:sp>
        <p:nvSpPr>
          <p:cNvPr id="9" name="raw-body">
            <a:extLst>
              <a:ext uri="{FF2B5EF4-FFF2-40B4-BE49-F238E27FC236}">
                <a16:creationId xmlns:a16="http://schemas.microsoft.com/office/drawing/2014/main" id="{DB87EC3D-1AB6-4817-B546-CE6A26C4664A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7"/>
              </a:spcAft>
              <a:defRPr sz="15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Snowflake raw layer</a:t>
            </a:r>
          </a:p>
          <a:p>
            <a:pPr algn="l">
              <a:defRPr sz="15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Apps, files, and databases land as raw tables.</a:t>
            </a:r>
          </a:p>
        </p:txBody>
      </p:sp>
      <p:sp>
        <p:nvSpPr>
          <p:cNvPr id="10" name="dbt-body">
            <a:extLst>
              <a:ext uri="{FF2B5EF4-FFF2-40B4-BE49-F238E27FC236}">
                <a16:creationId xmlns:a16="http://schemas.microsoft.com/office/drawing/2014/main" id="{6178E99D-B360-48C2-B757-E9945BAC2E60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7"/>
              </a:spcAft>
              <a:defRPr sz="15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dbt models</a:t>
            </a:r>
          </a:p>
          <a:p>
            <a:pPr algn="l">
              <a:defRPr sz="15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SELECT statements become clean views or tables.</a:t>
            </a:r>
          </a:p>
        </p:txBody>
      </p:sp>
      <p:sp>
        <p:nvSpPr>
          <p:cNvPr id="11" name="analytics-body">
            <a:extLst>
              <a:ext uri="{FF2B5EF4-FFF2-40B4-BE49-F238E27FC236}">
                <a16:creationId xmlns:a16="http://schemas.microsoft.com/office/drawing/2014/main" id="{49C63CA9-073D-4195-8455-F575EDEFF45E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7"/>
              </a:spcAft>
              <a:defRPr sz="15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Trusted analytics</a:t>
            </a:r>
          </a:p>
          <a:p>
            <a:pPr algn="l">
              <a:defRPr sz="15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Tests, documentation, and lineage support BI.</a:t>
            </a:r>
          </a:p>
        </p:txBody>
      </p:sp>
      <p:sp>
        <p:nvSpPr>
          <p:cNvPr id="12" name="slide-number-2">
            <a:extLst>
              <a:ext uri="{FF2B5EF4-FFF2-40B4-BE49-F238E27FC236}">
                <a16:creationId xmlns:a16="http://schemas.microsoft.com/office/drawing/2014/main" id="{9D75EC3E-FC62-45BB-A910-D2C2BF4DE577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3" name="dbt-boundary-callout">
            <a:extLst>
              <a:ext uri="{FF2B5EF4-FFF2-40B4-BE49-F238E27FC236}">
                <a16:creationId xmlns:a16="http://schemas.microsoft.com/office/drawing/2014/main" id="{9B4EE33F-16DC-4FF2-9EAD-3B011BFCB64F}"/>
              </a:ext>
            </a:extLst>
          </p:cNvPr>
          <p:cNvSpPr>
            <a:spLocks noGrp="1"/>
          </p:cNvSpPr>
          <p:nvPr/>
        </p:nvSpPr>
        <p:spPr>
          <a:xfrm>
            <a:off x="393668" y="1552575"/>
            <a:ext cx="11401425" cy="552450"/>
          </a:xfrm>
          <a:prstGeom prst="roundRect">
            <a:avLst>
              <a:gd name="adj" fmla="val 13793"/>
            </a:avLst>
          </a:prstGeom>
          <a:solidFill>
            <a:srgbClr val="EAF5FB"/>
          </a:solidFill>
          <a:ln w="9525">
            <a:solidFill>
              <a:srgbClr val="B9DCF0"/>
            </a:solidFill>
            <a:prstDash val="solid"/>
          </a:ln>
        </p:spPr>
        <p:txBody>
          <a:bodyPr lIns="152400" tIns="95250" rIns="152400" bIns="95250" anchor="ctr">
            <a:noAutofit/>
          </a:bodyPr>
          <a:lstStyle/>
          <a:p>
            <a:pPr algn="l"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Important boundary: </a:t>
            </a: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dbt starts after raw data lands in Snowflake.</a:t>
            </a:r>
          </a:p>
        </p:txBody>
      </p:sp>
    </p:spTree>
    <p:extLst>
      <p:ext uri="{BB962C8B-B14F-4D97-AF65-F5344CB8AC3E}">
        <p14:creationId xmlns:p14="http://schemas.microsoft.com/office/powerpoint/2010/main" val="116192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3-title">
            <a:extLst>
              <a:ext uri="{FF2B5EF4-FFF2-40B4-BE49-F238E27FC236}">
                <a16:creationId xmlns:a16="http://schemas.microsoft.com/office/drawing/2014/main" id="{F89ED35B-E238-4E3B-95C0-67FA3EDD0A65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ref() turns SQL files into a dependable DAG</a:t>
            </a:r>
          </a:p>
        </p:txBody>
      </p:sp>
      <p:sp>
        <p:nvSpPr>
          <p:cNvPr id="5" name="model-block">
            <a:extLst>
              <a:ext uri="{FF2B5EF4-FFF2-40B4-BE49-F238E27FC236}">
                <a16:creationId xmlns:a16="http://schemas.microsoft.com/office/drawing/2014/main" id="{0040B087-BB72-46AC-B98F-553463071129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271462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1430">
            <a:solidFill>
              <a:srgbClr val="C8CDD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152400" tIns="133350" rIns="152400" bIns="114300" anchor="ctr">
            <a:noAutofit/>
          </a:bodyPr>
          <a:lstStyle/>
          <a:p>
            <a:pPr algn="l">
              <a:spcAft>
                <a:spcPts val="6"/>
              </a:spcAft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stg_customers.sql</a:t>
            </a:r>
          </a:p>
          <a:p>
            <a:pPr algn="l"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Clean and standardize customer records</a:t>
            </a:r>
          </a:p>
        </p:txBody>
      </p:sp>
      <p:sp>
        <p:nvSpPr>
          <p:cNvPr id="6" name="ref-block">
            <a:extLst>
              <a:ext uri="{FF2B5EF4-FFF2-40B4-BE49-F238E27FC236}">
                <a16:creationId xmlns:a16="http://schemas.microsoft.com/office/drawing/2014/main" id="{2F91BAD4-0015-41C0-9832-BD8C4458C102}"/>
              </a:ext>
            </a:extLst>
          </p:cNvPr>
          <p:cNvSpPr>
            <a:spLocks noGrp="1"/>
          </p:cNvSpPr>
          <p:nvPr/>
        </p:nvSpPr>
        <p:spPr>
          <a:xfrm>
            <a:off x="704850" y="3638550"/>
            <a:ext cx="271462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1430">
            <a:solidFill>
              <a:srgbClr val="C8CDD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152400" tIns="133350" rIns="152400" bIns="114300" anchor="ctr">
            <a:noAutofit/>
          </a:bodyPr>
          <a:lstStyle/>
          <a:p>
            <a:pPr algn="l">
              <a:spcAft>
                <a:spcPts val="6"/>
              </a:spcAft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stg_orders.sql</a:t>
            </a:r>
          </a:p>
          <a:p>
            <a:pPr algn="l"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Clean and standardize order records</a:t>
            </a:r>
          </a:p>
        </p:txBody>
      </p:sp>
      <p:sp>
        <p:nvSpPr>
          <p:cNvPr id="7" name="dag-block">
            <a:extLst>
              <a:ext uri="{FF2B5EF4-FFF2-40B4-BE49-F238E27FC236}">
                <a16:creationId xmlns:a16="http://schemas.microsoft.com/office/drawing/2014/main" id="{36FF964D-A9D3-4D62-ACF7-546885121D3D}"/>
              </a:ext>
            </a:extLst>
          </p:cNvPr>
          <p:cNvSpPr>
            <a:spLocks noGrp="1"/>
          </p:cNvSpPr>
          <p:nvPr/>
        </p:nvSpPr>
        <p:spPr>
          <a:xfrm>
            <a:off x="4619625" y="2790825"/>
            <a:ext cx="3095625" cy="1123950"/>
          </a:xfrm>
          <a:prstGeom prst="roundRect">
            <a:avLst>
              <a:gd name="adj" fmla="val 10169"/>
            </a:avLst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152400" tIns="133350" rIns="152400" bIns="114300" anchor="ctr">
            <a:noAutofit/>
          </a:bodyPr>
          <a:lstStyle/>
          <a:p>
            <a:pPr algn="l">
              <a:spcAft>
                <a:spcPts val="6"/>
              </a:spcAft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int_customer_orders.sql</a:t>
            </a:r>
          </a:p>
          <a:p>
            <a:pPr algn="l"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Join reusable customer and order logic</a:t>
            </a:r>
          </a:p>
        </p:txBody>
      </p:sp>
      <p:sp>
        <p:nvSpPr>
          <p:cNvPr id="8" name="value-block">
            <a:extLst>
              <a:ext uri="{FF2B5EF4-FFF2-40B4-BE49-F238E27FC236}">
                <a16:creationId xmlns:a16="http://schemas.microsoft.com/office/drawing/2014/main" id="{5F27C3B5-1417-4020-9A45-8D6A9FE8C1F7}"/>
              </a:ext>
            </a:extLst>
          </p:cNvPr>
          <p:cNvSpPr>
            <a:spLocks noGrp="1"/>
          </p:cNvSpPr>
          <p:nvPr/>
        </p:nvSpPr>
        <p:spPr>
          <a:xfrm>
            <a:off x="8991600" y="2790825"/>
            <a:ext cx="26289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C8CDD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152400" tIns="133350" rIns="152400" bIns="114300" anchor="ctr">
            <a:noAutofit/>
          </a:bodyPr>
          <a:lstStyle/>
          <a:p>
            <a:pPr algn="l">
              <a:spcAft>
                <a:spcPts val="6"/>
              </a:spcAft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mart_customer_sales.sql</a:t>
            </a:r>
          </a:p>
          <a:p>
            <a:pPr algn="l"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Publish business-ready sales data</a:t>
            </a:r>
          </a:p>
        </p:txBody>
      </p:sp>
      <p:sp>
        <p:nvSpPr>
          <p:cNvPr id="9" name="slide-number-3">
            <a:extLst>
              <a:ext uri="{FF2B5EF4-FFF2-40B4-BE49-F238E27FC236}">
                <a16:creationId xmlns:a16="http://schemas.microsoft.com/office/drawing/2014/main" id="{5C2C0F7C-1E1E-435C-8A6C-BAFEFEB6DF05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cxnSp>
        <p:nvCxnSpPr>
          <p:cNvPr id="22" name="Connector: Elbow 21"/>
          <p:cNvCxnSpPr>
            <a:stCxn id="5" idx="3"/>
            <a:endCxn id="7" idx="1"/>
          </p:cNvCxnSpPr>
          <p:nvPr/>
        </p:nvCxnSpPr>
        <p:spPr>
          <a:xfrm>
            <a:off x="3419475" y="2486025"/>
            <a:ext cx="1200150" cy="866775"/>
          </a:xfrm>
          <a:prstGeom prst="bentConnector3">
            <a:avLst>
              <a:gd name="adj1" fmla="val 50000"/>
            </a:avLst>
          </a:prstGeom>
          <a:ln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23" name="Connector: Elbow 22"/>
          <p:cNvCxnSpPr>
            <a:stCxn id="6" idx="3"/>
            <a:endCxn id="7" idx="1"/>
          </p:cNvCxnSpPr>
          <p:nvPr/>
        </p:nvCxnSpPr>
        <p:spPr>
          <a:xfrm flipV="1">
            <a:off x="3419475" y="3352800"/>
            <a:ext cx="1200150" cy="819150"/>
          </a:xfrm>
          <a:prstGeom prst="bentConnector3">
            <a:avLst>
              <a:gd name="adj1" fmla="val 50000"/>
            </a:avLst>
          </a:prstGeom>
          <a:ln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24" name="Straight Arrow Connector 23"/>
          <p:cNvCxnSpPr>
            <a:stCxn id="7" idx="3"/>
            <a:endCxn id="8" idx="1"/>
          </p:cNvCxnSpPr>
          <p:nvPr/>
        </p:nvCxnSpPr>
        <p:spPr>
          <a:xfrm>
            <a:off x="7715250" y="3352800"/>
            <a:ext cx="1276350" cy="0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3" name="model-definition">
            <a:extLst>
              <a:ext uri="{FF2B5EF4-FFF2-40B4-BE49-F238E27FC236}">
                <a16:creationId xmlns:a16="http://schemas.microsoft.com/office/drawing/2014/main" id="{1D825129-B9C1-425B-A83C-55B73EF08E84}"/>
              </a:ext>
            </a:extLst>
          </p:cNvPr>
          <p:cNvSpPr>
            <a:spLocks noGrp="1"/>
          </p:cNvSpPr>
          <p:nvPr/>
        </p:nvSpPr>
        <p:spPr>
          <a:xfrm>
            <a:off x="704850" y="1381125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3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Model = </a:t>
            </a:r>
            <a:r>
              <a:rPr sz="13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one SELECT statement saved as one .sql file</a:t>
            </a:r>
          </a:p>
        </p:txBody>
      </p:sp>
      <p:sp>
        <p:nvSpPr>
          <p:cNvPr id="14" name="dag-direction">
            <a:extLst>
              <a:ext uri="{FF2B5EF4-FFF2-40B4-BE49-F238E27FC236}">
                <a16:creationId xmlns:a16="http://schemas.microsoft.com/office/drawing/2014/main" id="{0030E46C-9F7D-4148-8BB3-BDE641290FAC}"/>
              </a:ext>
            </a:extLst>
          </p:cNvPr>
          <p:cNvSpPr>
            <a:spLocks noGrp="1"/>
          </p:cNvSpPr>
          <p:nvPr/>
        </p:nvSpPr>
        <p:spPr>
          <a:xfrm>
            <a:off x="9029700" y="1381125"/>
            <a:ext cx="2590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Build order flows left to right</a:t>
            </a:r>
          </a:p>
        </p:txBody>
      </p:sp>
      <p:sp>
        <p:nvSpPr>
          <p:cNvPr id="15" name="ref-code-callout">
            <a:extLst>
              <a:ext uri="{FF2B5EF4-FFF2-40B4-BE49-F238E27FC236}">
                <a16:creationId xmlns:a16="http://schemas.microsoft.com/office/drawing/2014/main" id="{B8AC9CBB-C484-4C70-B23C-EFEA92EFF708}"/>
              </a:ext>
            </a:extLst>
          </p:cNvPr>
          <p:cNvSpPr>
            <a:spLocks noGrp="1"/>
          </p:cNvSpPr>
          <p:nvPr/>
        </p:nvSpPr>
        <p:spPr>
          <a:xfrm>
            <a:off x="704850" y="5095875"/>
            <a:ext cx="10915650" cy="714375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 w="9525">
            <a:solidFill>
              <a:srgbClr val="D8DBE0"/>
            </a:solidFill>
            <a:prstDash val="solid"/>
          </a:ln>
        </p:spPr>
        <p:txBody>
          <a:bodyPr lIns="171450" tIns="114300" rIns="171450" bIns="114300" anchor="ctr">
            <a:noAutofit/>
          </a:bodyPr>
          <a:lstStyle/>
          <a:p>
            <a:pPr algn="l">
              <a:def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from {{ ref('stg_orders') }}</a:t>
            </a:r>
            <a:r>
              <a: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     ref() resolves the relation and records the dependency for build order and lineage.</a:t>
            </a:r>
          </a:p>
        </p:txBody>
      </p:sp>
    </p:spTree>
    <p:extLst>
      <p:ext uri="{BB962C8B-B14F-4D97-AF65-F5344CB8AC3E}">
        <p14:creationId xmlns:p14="http://schemas.microsoft.com/office/powerpoint/2010/main" val="253329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4-title">
            <a:extLst>
              <a:ext uri="{FF2B5EF4-FFF2-40B4-BE49-F238E27FC236}">
                <a16:creationId xmlns:a16="http://schemas.microsoft.com/office/drawing/2014/main" id="{77EFD038-3064-44AE-8BE0-502FAB65144C}"/>
              </a:ext>
            </a:extLst>
          </p:cNvPr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 or Core: the Snowflake context stays the same</a:t>
            </a:r>
          </a:p>
        </p:txBody>
      </p:sp>
      <p:sp>
        <p:nvSpPr>
          <p:cNvPr id="2" name="connection-intro">
            <a:extLst>
              <a:ext uri="{FF2B5EF4-FFF2-40B4-BE49-F238E27FC236}">
                <a16:creationId xmlns:a16="http://schemas.microsoft.com/office/drawing/2014/main" id="{DAE1B6A8-8F2C-4C21-9113-20011D06ED3D}"/>
              </a:ext>
            </a:extLst>
          </p:cNvPr>
          <p:cNvSpPr>
            <a:spLocks noGrp="1"/>
          </p:cNvSpPr>
          <p:nvPr/>
        </p:nvSpPr>
        <p:spPr>
          <a:xfrm>
            <a:off x="400050" y="1162050"/>
            <a:ext cx="11391900" cy="666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5"/>
              </a:spcAft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Required context: </a:t>
            </a: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account • user • role • warehouse • database • schema • authentication</a:t>
            </a:r>
          </a:p>
          <a:p>
            <a:pPr algn="l"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key-pair authentication for automated or production runs.</a:t>
            </a:r>
          </a:p>
        </p:txBody>
      </p:sp>
      <p:sp>
        <p:nvSpPr>
          <p:cNvPr id="3" name="cloud-panel">
            <a:extLst>
              <a:ext uri="{FF2B5EF4-FFF2-40B4-BE49-F238E27FC236}">
                <a16:creationId xmlns:a16="http://schemas.microsoft.com/office/drawing/2014/main" id="{346D9B6E-DA99-4BD2-BCF3-BF5BBDE2BDE4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5334000" cy="2762250"/>
          </a:xfrm>
          <a:prstGeom prst="roundRect">
            <a:avLst>
              <a:gd name="adj" fmla="val 4138"/>
            </a:avLst>
          </a:prstGeom>
          <a:noFill/>
          <a:ln w="13335">
            <a:solidFill>
              <a:srgbClr val="9DC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loud-title">
            <a:extLst>
              <a:ext uri="{FF2B5EF4-FFF2-40B4-BE49-F238E27FC236}">
                <a16:creationId xmlns:a16="http://schemas.microsoft.com/office/drawing/2014/main" id="{0FEB0C26-DC69-45D8-A4B9-2657989B3740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4667250" cy="533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dbt Cloud</a:t>
            </a:r>
          </a:p>
        </p:txBody>
      </p:sp>
      <p:sp>
        <p:nvSpPr>
          <p:cNvPr id="5" name="cloud-details">
            <a:extLst>
              <a:ext uri="{FF2B5EF4-FFF2-40B4-BE49-F238E27FC236}">
                <a16:creationId xmlns:a16="http://schemas.microsoft.com/office/drawing/2014/main" id="{8B8EB501-6803-4076-828F-DF537031D6BB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4667250" cy="16192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7"/>
              </a:spcAft>
              <a:def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Fast route: </a:t>
            </a:r>
            <a:r>
              <a: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Snowflake Partner Connect</a:t>
            </a:r>
          </a:p>
          <a:p>
            <a:pPr algn="l">
              <a:spcAft>
                <a:spcPts val="7"/>
              </a:spcAft>
              <a:def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Manual route: </a:t>
            </a:r>
            <a:r>
              <a: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enter the connection settings</a:t>
            </a:r>
          </a:p>
          <a:p>
            <a:pPr algn="l">
              <a:spcAft>
                <a:spcPts val="7"/>
              </a:spcAft>
              <a:def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Verify: </a:t>
            </a:r>
            <a:r>
              <a: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click Test Connection</a:t>
            </a:r>
          </a:p>
        </p:txBody>
      </p:sp>
      <p:sp>
        <p:nvSpPr>
          <p:cNvPr id="6" name="core-panel">
            <a:extLst>
              <a:ext uri="{FF2B5EF4-FFF2-40B4-BE49-F238E27FC236}">
                <a16:creationId xmlns:a16="http://schemas.microsoft.com/office/drawing/2014/main" id="{F77701C1-A337-41E2-A73A-973C97595C01}"/>
              </a:ext>
            </a:extLst>
          </p:cNvPr>
          <p:cNvSpPr>
            <a:spLocks noGrp="1"/>
          </p:cNvSpPr>
          <p:nvPr/>
        </p:nvSpPr>
        <p:spPr>
          <a:xfrm>
            <a:off x="6457950" y="2038350"/>
            <a:ext cx="5334000" cy="2762250"/>
          </a:xfrm>
          <a:prstGeom prst="roundRect">
            <a:avLst>
              <a:gd name="adj" fmla="val 4138"/>
            </a:avLst>
          </a:prstGeom>
          <a:noFill/>
          <a:ln w="13335">
            <a:solidFill>
              <a:srgbClr val="C8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re-title">
            <a:extLst>
              <a:ext uri="{FF2B5EF4-FFF2-40B4-BE49-F238E27FC236}">
                <a16:creationId xmlns:a16="http://schemas.microsoft.com/office/drawing/2014/main" id="{680DD1E4-117F-42BA-94F4-1D62E6455B67}"/>
              </a:ext>
            </a:extLst>
          </p:cNvPr>
          <p:cNvSpPr>
            <a:spLocks noGrp="1"/>
          </p:cNvSpPr>
          <p:nvPr/>
        </p:nvSpPr>
        <p:spPr>
          <a:xfrm>
            <a:off x="6781800" y="2209800"/>
            <a:ext cx="4667250" cy="533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dbt Core</a:t>
            </a:r>
          </a:p>
        </p:txBody>
      </p:sp>
      <p:sp>
        <p:nvSpPr>
          <p:cNvPr id="8" name="core-details">
            <a:extLst>
              <a:ext uri="{FF2B5EF4-FFF2-40B4-BE49-F238E27FC236}">
                <a16:creationId xmlns:a16="http://schemas.microsoft.com/office/drawing/2014/main" id="{12BAA00D-4C3A-40F2-8BFB-27FDEB24DD3B}"/>
              </a:ext>
            </a:extLst>
          </p:cNvPr>
          <p:cNvSpPr>
            <a:spLocks noGrp="1"/>
          </p:cNvSpPr>
          <p:nvPr/>
        </p:nvSpPr>
        <p:spPr>
          <a:xfrm>
            <a:off x="6781800" y="2857500"/>
            <a:ext cx="4667250" cy="16192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7"/>
              </a:spcAft>
              <a:def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Install: </a:t>
            </a:r>
            <a:r>
              <a: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pip install dbt-snowflake</a:t>
            </a:r>
          </a:p>
          <a:p>
            <a:pPr algn="l">
              <a:spcAft>
                <a:spcPts val="7"/>
              </a:spcAft>
              <a:def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Initialize: </a:t>
            </a:r>
            <a:r>
              <a: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dbt init</a:t>
            </a:r>
          </a:p>
          <a:p>
            <a:pPr algn="l">
              <a:spcAft>
                <a:spcPts val="7"/>
              </a:spcAft>
              <a:def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Configure: </a:t>
            </a:r>
            <a:r>
              <a: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profiles.yml</a:t>
            </a:r>
          </a:p>
          <a:p>
            <a:pPr algn="l">
              <a:spcAft>
                <a:spcPts val="7"/>
              </a:spcAft>
              <a:def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Verify: </a:t>
            </a:r>
            <a:r>
              <a:rPr sz="1275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dbt debug</a:t>
            </a:r>
          </a:p>
        </p:txBody>
      </p:sp>
      <p:sp>
        <p:nvSpPr>
          <p:cNvPr id="9" name="slide-number-4">
            <a:extLst>
              <a:ext uri="{FF2B5EF4-FFF2-40B4-BE49-F238E27FC236}">
                <a16:creationId xmlns:a16="http://schemas.microsoft.com/office/drawing/2014/main" id="{B7418448-3CCB-4700-9DAD-F3089C11DC6E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0" name="workflow-connect">
            <a:extLst>
              <a:ext uri="{FF2B5EF4-FFF2-40B4-BE49-F238E27FC236}">
                <a16:creationId xmlns:a16="http://schemas.microsoft.com/office/drawing/2014/main" id="{4E1B8A5A-9AFC-4489-86DA-F612F4003BB6}"/>
              </a:ext>
            </a:extLst>
          </p:cNvPr>
          <p:cNvSpPr>
            <a:spLocks noGrp="1"/>
          </p:cNvSpPr>
          <p:nvPr/>
        </p:nvSpPr>
        <p:spPr>
          <a:xfrm>
            <a:off x="400050" y="5200650"/>
            <a:ext cx="2857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1430">
            <a:solidFill>
              <a:srgbClr val="C8CDD5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spcAft>
                <a:spcPts val="3"/>
              </a:spcAft>
              <a:defRPr sz="1350"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CONNECT</a:t>
            </a:r>
          </a:p>
          <a:p>
            <a:pPr algn="ctr">
              <a:defRPr sz="1350"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Cloud settings or profiles.yml</a:t>
            </a:r>
          </a:p>
        </p:txBody>
      </p:sp>
      <p:sp>
        <p:nvSpPr>
          <p:cNvPr id="11" name="workflow-verify">
            <a:extLst>
              <a:ext uri="{FF2B5EF4-FFF2-40B4-BE49-F238E27FC236}">
                <a16:creationId xmlns:a16="http://schemas.microsoft.com/office/drawing/2014/main" id="{805AED1C-6C0D-4484-9651-8565327D5BFA}"/>
              </a:ext>
            </a:extLst>
          </p:cNvPr>
          <p:cNvSpPr>
            <a:spLocks noGrp="1"/>
          </p:cNvSpPr>
          <p:nvPr/>
        </p:nvSpPr>
        <p:spPr>
          <a:xfrm>
            <a:off x="4667250" y="5200650"/>
            <a:ext cx="2857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1430">
            <a:solidFill>
              <a:srgbClr val="C8CDD5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spcAft>
                <a:spcPts val="3"/>
              </a:spcAft>
              <a:defRPr sz="1350"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VERIFY</a:t>
            </a:r>
          </a:p>
          <a:p>
            <a:pPr algn="ctr">
              <a:defRPr sz="1350"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Test Connection or dbt debug</a:t>
            </a:r>
          </a:p>
        </p:txBody>
      </p:sp>
      <p:sp>
        <p:nvSpPr>
          <p:cNvPr id="12" name="workflow-run">
            <a:extLst>
              <a:ext uri="{FF2B5EF4-FFF2-40B4-BE49-F238E27FC236}">
                <a16:creationId xmlns:a16="http://schemas.microsoft.com/office/drawing/2014/main" id="{732445E0-D880-424C-B613-3B24E8C5E695}"/>
              </a:ext>
            </a:extLst>
          </p:cNvPr>
          <p:cNvSpPr>
            <a:spLocks noGrp="1"/>
          </p:cNvSpPr>
          <p:nvPr/>
        </p:nvSpPr>
        <p:spPr>
          <a:xfrm>
            <a:off x="8934450" y="5200650"/>
            <a:ext cx="2857500" cy="723900"/>
          </a:xfrm>
          <a:prstGeom prst="roundRect">
            <a:avLst>
              <a:gd name="adj" fmla="val 15789"/>
            </a:avLst>
          </a:prstGeom>
          <a:solidFill>
            <a:srgbClr val="3D8DFF"/>
          </a:solidFill>
          <a:ln w="14288">
            <a:solidFill>
              <a:srgbClr val="3D8DFF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spcAft>
                <a:spcPts val="3"/>
              </a:spcAft>
              <a:defRPr sz="1350"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3. RUN MODELS</a:t>
            </a:r>
          </a:p>
          <a:p>
            <a:pPr algn="ctr">
              <a:defRPr sz="1350"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dbt run</a:t>
            </a:r>
          </a:p>
        </p:txBody>
      </p:sp>
      <p:cxnSp>
        <p:nvCxnSpPr>
          <p:cNvPr id="27" name="Straight Arrow Connector 26"/>
          <p:cNvCxnSpPr>
            <a:stCxn id="10" idx="3"/>
            <a:endCxn id="11" idx="1"/>
          </p:cNvCxnSpPr>
          <p:nvPr/>
        </p:nvCxnSpPr>
        <p:spPr>
          <a:xfrm>
            <a:off x="3257550" y="5562600"/>
            <a:ext cx="14097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28" name="Straight Arrow Connector 27"/>
          <p:cNvCxnSpPr>
            <a:stCxn id="11" idx="3"/>
            <a:endCxn id="12" idx="1"/>
          </p:cNvCxnSpPr>
          <p:nvPr/>
        </p:nvCxnSpPr>
        <p:spPr>
          <a:xfrm>
            <a:off x="7524750" y="5562600"/>
            <a:ext cx="1409700" cy="0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4141623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266</Words>
  <Application>Microsoft Office PowerPoint</Application>
  <DocSecurity>0</DocSecurity>
  <PresentationFormat>Widescreen</PresentationFormat>
  <Paragraphs>47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Yesgat, Duchyas</cp:lastModifiedBy>
  <cp:revision>1</cp:revision>
  <dcterms:created xsi:type="dcterms:W3CDTF">2026-07-28T04:48:37Z</dcterms:created>
  <dcterms:modified xsi:type="dcterms:W3CDTF">2026-07-29T18:06:14Z</dcterms:modified>
</cp:coreProperties>
</file>