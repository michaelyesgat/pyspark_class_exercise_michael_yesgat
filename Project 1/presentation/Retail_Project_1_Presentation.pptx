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3" d="100"/>
          <a:sy n="123" d="100"/>
        </p:scale>
        <p:origin x="81" y="1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Raw</c:v>
                </c:pt>
              </c:strCache>
            </c:strRef>
          </c:tx>
          <c:spPr>
            <a:solidFill>
              <a:srgbClr val="2A7FB8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12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Customers</c:v>
                </c:pt>
                <c:pt idx="1">
                  <c:v>Products</c:v>
                </c:pt>
                <c:pt idx="2">
                  <c:v>Orders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22</c:v>
                </c:pt>
                <c:pt idx="2">
                  <c:v>24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7ED3-4A46-8F1D-8246B877478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Curated</c:v>
                </c:pt>
              </c:strCache>
            </c:strRef>
          </c:tx>
          <c:spPr>
            <a:solidFill>
              <a:srgbClr val="2F855A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12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Customers</c:v>
                </c:pt>
                <c:pt idx="1">
                  <c:v>Products</c:v>
                </c:pt>
                <c:pt idx="2">
                  <c:v>Orders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7ED3-4A46-8F1D-8246B877478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>
            <a:solidFill>
              <a:srgbClr val="888888"/>
            </a:solidFill>
            <a:prstDash val="solid"/>
          </a:ln>
        </c:spPr>
        <c:txPr>
          <a:bodyPr anchorCtr="1"/>
          <a:lstStyle/>
          <a:p>
            <a:pPr>
              <a:defRPr sz="1200" b="0" i="0" u="none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0"/>
      </c:catAx>
      <c:valAx>
        <c:axId val="2094734552"/>
        <c:scaling>
          <c:orientation val="minMax"/>
          <c:max val="25"/>
          <c:min val="0"/>
        </c:scaling>
        <c:delete val="0"/>
        <c:axPos val="l"/>
        <c:majorGridlines>
          <c:spPr>
            <a:ln w="12700">
              <a:solidFill>
                <a:srgbClr val="888888"/>
              </a:solidFill>
              <a:prstDash val="solid"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>
            <a:solidFill>
              <a:srgbClr val="888888"/>
            </a:solidFill>
            <a:prstDash val="solid"/>
          </a:ln>
        </c:spPr>
        <c:txPr>
          <a:bodyPr anchorCtr="1"/>
          <a:lstStyle/>
          <a:p>
            <a:pPr>
              <a:defRPr sz="1200" b="0" i="0" u="none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</c:spPr>
    </c:plotArea>
    <c:legend>
      <c:legendPos val="r"/>
      <c:overlay val="0"/>
    </c:legend>
    <c:plotVisOnly val="1"/>
    <c:dispBlanksAs val="zero"/>
    <c:showDLblsOverMax val="1"/>
  </c:chart>
  <c:spPr>
    <a:noFill/>
    <a:ln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Raw</c:v>
                </c:pt>
              </c:strCache>
            </c:strRef>
          </c:tx>
          <c:spPr>
            <a:solidFill>
              <a:srgbClr val="2A7FB8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12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Customers</c:v>
                </c:pt>
                <c:pt idx="1">
                  <c:v>Products</c:v>
                </c:pt>
                <c:pt idx="2">
                  <c:v>Orders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22</c:v>
                </c:pt>
                <c:pt idx="2">
                  <c:v>24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348F-41F2-BB47-52EE7342504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Curated</c:v>
                </c:pt>
              </c:strCache>
            </c:strRef>
          </c:tx>
          <c:spPr>
            <a:solidFill>
              <a:srgbClr val="2F855A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12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Customers</c:v>
                </c:pt>
                <c:pt idx="1">
                  <c:v>Products</c:v>
                </c:pt>
                <c:pt idx="2">
                  <c:v>Orders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348F-41F2-BB47-52EE7342504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>
            <a:solidFill>
              <a:srgbClr val="888888"/>
            </a:solidFill>
            <a:prstDash val="solid"/>
          </a:ln>
        </c:spPr>
        <c:txPr>
          <a:bodyPr anchorCtr="1"/>
          <a:lstStyle/>
          <a:p>
            <a:pPr>
              <a:defRPr sz="1200" b="0" i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0"/>
      </c:catAx>
      <c:valAx>
        <c:axId val="2094734552"/>
        <c:scaling>
          <c:orientation val="minMax"/>
          <c:max val="30"/>
          <c:min val="0"/>
        </c:scaling>
        <c:delete val="0"/>
        <c:axPos val="l"/>
        <c:majorGridlines>
          <c:spPr>
            <a:ln w="12700">
              <a:solidFill>
                <a:srgbClr val="888888"/>
              </a:solidFill>
              <a:prstDash val="solid"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>
            <a:solidFill>
              <a:srgbClr val="888888"/>
            </a:solidFill>
            <a:prstDash val="solid"/>
          </a:ln>
        </c:spPr>
        <c:txPr>
          <a:bodyPr anchorCtr="1"/>
          <a:lstStyle/>
          <a:p>
            <a:pPr>
              <a:defRPr sz="1200" b="0" i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</c:spPr>
    </c:plotArea>
    <c:legend>
      <c:legendPos val="r"/>
      <c:overlay val="0"/>
    </c:legend>
    <c:plotVisOnly val="1"/>
    <c:dispBlanksAs val="zero"/>
    <c:showDLblsOverMax val="1"/>
  </c:chart>
  <c:spPr>
    <a:noFill/>
    <a:ln>
      <a:noFill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00544E9-1220-44A5-82D9-8D65FD5D729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2395B"/>
          </a:solidFill>
          <a:ln w="12700">
            <a:solidFill>
              <a:srgbClr val="12395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3129316-FACB-495E-BBD8-1F4E1D859002}"/>
              </a:ext>
            </a:extLst>
          </p:cNvPr>
          <p:cNvSpPr>
            <a:spLocks noGrp="1"/>
          </p:cNvSpPr>
          <p:nvPr/>
        </p:nvSpPr>
        <p:spPr>
          <a:xfrm>
            <a:off x="640080" y="822960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800" b="1" dirty="0">
                <a:solidFill>
                  <a:srgbClr val="1F77B4"/>
                </a:solidFill>
              </a:rPr>
              <a:t>Project </a:t>
            </a:r>
            <a:r>
              <a:rPr lang="en-US" sz="1800" b="1" dirty="0">
                <a:solidFill>
                  <a:srgbClr val="1F77B4"/>
                </a:solidFill>
              </a:rPr>
              <a:t>2</a:t>
            </a:r>
            <a:endParaRPr sz="1800" b="1" dirty="0">
              <a:solidFill>
                <a:srgbClr val="1F77B4"/>
              </a:solidFill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7BC780F-04AA-4B2B-BADD-8AF2708C4F35}"/>
              </a:ext>
            </a:extLst>
          </p:cNvPr>
          <p:cNvSpPr>
            <a:spLocks noGrp="1"/>
          </p:cNvSpPr>
          <p:nvPr/>
        </p:nvSpPr>
        <p:spPr>
          <a:xfrm>
            <a:off x="640080" y="1325880"/>
            <a:ext cx="6858000" cy="6217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500" b="1" dirty="0">
                <a:solidFill>
                  <a:srgbClr val="12395B"/>
                </a:solidFill>
                <a:latin typeface="Aptos Display"/>
                <a:ea typeface="Aptos Display"/>
                <a:cs typeface="Aptos Display"/>
              </a:rPr>
              <a:t>Retail Data Engineering Pipeline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7E41299-C0C9-4C72-A8B3-7B99D22C4C43}"/>
              </a:ext>
            </a:extLst>
          </p:cNvPr>
          <p:cNvSpPr>
            <a:spLocks noGrp="1"/>
          </p:cNvSpPr>
          <p:nvPr/>
        </p:nvSpPr>
        <p:spPr>
          <a:xfrm>
            <a:off x="658368" y="2084832"/>
            <a:ext cx="621792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>
                <a:solidFill>
                  <a:srgbClr val="5B6670"/>
                </a:solidFill>
              </a:rPr>
              <a:t>PySpark on EMR / Amazon S3 / Glue + Iceberg / Snowflake SQL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9F5D3D7-0AA6-4B0C-B1EB-950CC00931F4}"/>
              </a:ext>
            </a:extLst>
          </p:cNvPr>
          <p:cNvSpPr>
            <a:spLocks noGrp="1"/>
          </p:cNvSpPr>
          <p:nvPr/>
        </p:nvSpPr>
        <p:spPr>
          <a:xfrm>
            <a:off x="4832604" y="3136392"/>
            <a:ext cx="10515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txBody>
          <a:bodyPr wrap="square" lIns="1016" tIns="1016" rIns="1016" bIns="1016" anchor="ctr"/>
          <a:lstStyle/>
          <a:p>
            <a:pPr marL="0" indent="0" algn="ctr">
              <a:buNone/>
            </a:pPr>
            <a:r>
              <a:rPr sz="1300" b="1">
                <a:solidFill>
                  <a:srgbClr val="12395B"/>
                </a:solidFill>
              </a:rPr>
              <a:t>S3 Raw</a:t>
            </a:r>
          </a:p>
          <a:p>
            <a:pPr marL="0" indent="0" algn="ctr">
              <a:buNone/>
            </a:pPr>
            <a:r>
              <a:rPr sz="1300" b="1">
                <a:solidFill>
                  <a:srgbClr val="12395B"/>
                </a:solidFill>
              </a:rPr>
              <a:t>CSV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BB0CE14-3AF7-4642-BDBB-B38AC398D969}"/>
              </a:ext>
            </a:extLst>
          </p:cNvPr>
          <p:cNvSpPr>
            <a:spLocks noGrp="1"/>
          </p:cNvSpPr>
          <p:nvPr/>
        </p:nvSpPr>
        <p:spPr>
          <a:xfrm>
            <a:off x="6991059" y="3154680"/>
            <a:ext cx="1234440" cy="868680"/>
          </a:xfrm>
          <a:prstGeom prst="roundRect">
            <a:avLst>
              <a:gd name="adj" fmla="val 8421"/>
            </a:avLst>
          </a:prstGeom>
          <a:solidFill>
            <a:srgbClr val="E4F3FF"/>
          </a:solidFill>
          <a:ln w="12700">
            <a:solidFill>
              <a:srgbClr val="D9E2EC"/>
            </a:solidFill>
          </a:ln>
        </p:spPr>
        <p:txBody>
          <a:bodyPr wrap="square" lIns="1016" tIns="1016" rIns="1016" bIns="1016" anchor="ctr"/>
          <a:lstStyle/>
          <a:p>
            <a:pPr marL="0" indent="0" algn="ctr">
              <a:buNone/>
            </a:pPr>
            <a:r>
              <a:rPr sz="1300" b="1">
                <a:solidFill>
                  <a:srgbClr val="12395B"/>
                </a:solidFill>
              </a:rPr>
              <a:t>PySpark</a:t>
            </a:r>
          </a:p>
          <a:p>
            <a:pPr marL="0" indent="0" algn="ctr">
              <a:buNone/>
            </a:pPr>
            <a:r>
              <a:rPr sz="1300" b="1">
                <a:solidFill>
                  <a:srgbClr val="12395B"/>
                </a:solidFill>
              </a:rPr>
              <a:t>EMR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21DD5A3-05A6-4C1F-8067-15268A031233}"/>
              </a:ext>
            </a:extLst>
          </p:cNvPr>
          <p:cNvSpPr>
            <a:spLocks noGrp="1"/>
          </p:cNvSpPr>
          <p:nvPr/>
        </p:nvSpPr>
        <p:spPr>
          <a:xfrm>
            <a:off x="9314602" y="3154680"/>
            <a:ext cx="1325880" cy="868680"/>
          </a:xfrm>
          <a:prstGeom prst="roundRect">
            <a:avLst>
              <a:gd name="adj" fmla="val 8421"/>
            </a:avLst>
          </a:prstGeom>
          <a:solidFill>
            <a:srgbClr val="DFF4EA"/>
          </a:solidFill>
          <a:ln w="12700">
            <a:solidFill>
              <a:srgbClr val="D9E2EC"/>
            </a:solidFill>
          </a:ln>
        </p:spPr>
        <p:txBody>
          <a:bodyPr wrap="square" lIns="1016" tIns="1016" rIns="1016" bIns="1016" anchor="ctr"/>
          <a:lstStyle/>
          <a:p>
            <a:pPr marL="0" indent="0" algn="ctr">
              <a:buNone/>
            </a:pPr>
            <a:r>
              <a:rPr sz="1300" b="1">
                <a:solidFill>
                  <a:srgbClr val="12395B"/>
                </a:solidFill>
              </a:rPr>
              <a:t>Glue +</a:t>
            </a:r>
          </a:p>
          <a:p>
            <a:pPr marL="0" indent="0" algn="ctr">
              <a:buNone/>
            </a:pPr>
            <a:r>
              <a:rPr sz="1300" b="1">
                <a:solidFill>
                  <a:srgbClr val="12395B"/>
                </a:solidFill>
              </a:rPr>
              <a:t>Iceberg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1DF168E-F523-42DA-B139-1C9803E75F10}"/>
              </a:ext>
            </a:extLst>
          </p:cNvPr>
          <p:cNvSpPr>
            <a:spLocks noGrp="1"/>
          </p:cNvSpPr>
          <p:nvPr/>
        </p:nvSpPr>
        <p:spPr>
          <a:xfrm>
            <a:off x="9124516" y="4526280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FFF4DD"/>
          </a:solidFill>
          <a:ln w="12700">
            <a:solidFill>
              <a:srgbClr val="D9E2EC"/>
            </a:solidFill>
          </a:ln>
        </p:spPr>
        <p:txBody>
          <a:bodyPr wrap="square" lIns="1016" tIns="1016" rIns="1016" bIns="1016" anchor="ctr"/>
          <a:lstStyle/>
          <a:p>
            <a:pPr marL="0" indent="0" algn="ctr">
              <a:buNone/>
            </a:pPr>
            <a:r>
              <a:rPr sz="1300" b="1">
                <a:solidFill>
                  <a:srgbClr val="12395B"/>
                </a:solidFill>
              </a:rPr>
              <a:t>Snowflake</a:t>
            </a:r>
          </a:p>
          <a:p>
            <a:pPr marL="0" indent="0" algn="ctr">
              <a:buNone/>
            </a:pPr>
            <a:r>
              <a:rPr sz="1300" b="1">
                <a:solidFill>
                  <a:srgbClr val="12395B"/>
                </a:solidFill>
              </a:rPr>
              <a:t>SQL</a:t>
            </a: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7208B91A-5B2C-4CE0-9C92-67BC18DF8065}"/>
              </a:ext>
            </a:extLst>
          </p:cNvPr>
          <p:cNvSpPr>
            <a:spLocks noGrp="1"/>
          </p:cNvSpPr>
          <p:nvPr/>
        </p:nvSpPr>
        <p:spPr>
          <a:xfrm>
            <a:off x="10035540" y="4023360"/>
            <a:ext cx="0" cy="502920"/>
          </a:xfrm>
          <a:prstGeom prst="line">
            <a:avLst/>
          </a:prstGeom>
          <a:noFill/>
          <a:ln w="25400">
            <a:solidFill>
              <a:srgbClr val="F2B84B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4401BB09-F603-47D6-943F-088254959C6C}"/>
              </a:ext>
            </a:extLst>
          </p:cNvPr>
          <p:cNvSpPr>
            <a:spLocks noGrp="1"/>
          </p:cNvSpPr>
          <p:nvPr/>
        </p:nvSpPr>
        <p:spPr>
          <a:xfrm>
            <a:off x="658368" y="2980944"/>
            <a:ext cx="1901952" cy="310896"/>
          </a:xfrm>
          <a:prstGeom prst="roundRect">
            <a:avLst>
              <a:gd name="adj" fmla="val 17647"/>
            </a:avLst>
          </a:prstGeom>
          <a:solidFill>
            <a:srgbClr val="2E7D59"/>
          </a:solidFill>
          <a:ln>
            <a:solidFill>
              <a:srgbClr val="2E7D59"/>
            </a:solidFill>
          </a:ln>
        </p:spPr>
        <p:txBody>
          <a:bodyPr wrap="square" lIns="508" tIns="508" rIns="508" bIns="508" anchor="ctr"/>
          <a:lstStyle/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</a:rPr>
              <a:t>68 Raw Rows</a:t>
            </a: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18A2A0A-7A77-49D8-87E2-CA305885C55F}"/>
              </a:ext>
            </a:extLst>
          </p:cNvPr>
          <p:cNvSpPr>
            <a:spLocks noGrp="1"/>
          </p:cNvSpPr>
          <p:nvPr/>
        </p:nvSpPr>
        <p:spPr>
          <a:xfrm>
            <a:off x="658368" y="3419856"/>
            <a:ext cx="1901952" cy="310896"/>
          </a:xfrm>
          <a:prstGeom prst="roundRect">
            <a:avLst>
              <a:gd name="adj" fmla="val 17647"/>
            </a:avLst>
          </a:prstGeom>
          <a:solidFill>
            <a:srgbClr val="1F77B4"/>
          </a:solidFill>
          <a:ln>
            <a:solidFill>
              <a:srgbClr val="1F77B4"/>
            </a:solidFill>
          </a:ln>
        </p:spPr>
        <p:txBody>
          <a:bodyPr wrap="square" lIns="508" tIns="508" rIns="508" bIns="508" anchor="ctr"/>
          <a:lstStyle/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</a:rPr>
              <a:t>51 Curated Rows</a:t>
            </a: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7E713AAC-B281-450B-8069-EE909AA9C679}"/>
              </a:ext>
            </a:extLst>
          </p:cNvPr>
          <p:cNvSpPr>
            <a:spLocks noGrp="1"/>
          </p:cNvSpPr>
          <p:nvPr/>
        </p:nvSpPr>
        <p:spPr>
          <a:xfrm>
            <a:off x="658368" y="3858768"/>
            <a:ext cx="1920240" cy="310896"/>
          </a:xfrm>
          <a:prstGeom prst="roundRect">
            <a:avLst>
              <a:gd name="adj" fmla="val 17647"/>
            </a:avLst>
          </a:prstGeom>
          <a:solidFill>
            <a:srgbClr val="F2B84B"/>
          </a:solidFill>
          <a:ln>
            <a:solidFill>
              <a:srgbClr val="F2B84B"/>
            </a:solidFill>
          </a:ln>
        </p:spPr>
        <p:txBody>
          <a:bodyPr wrap="square" lIns="508" tIns="508" rIns="508" bIns="508" anchor="ctr"/>
          <a:lstStyle/>
          <a:p>
            <a:pPr marL="0" indent="0" algn="ctr">
              <a:buNone/>
            </a:pPr>
            <a:r>
              <a:rPr sz="1200" b="1">
                <a:solidFill>
                  <a:srgbClr val="1B1F24"/>
                </a:solidFill>
              </a:rPr>
              <a:t>7 Analytics Queries</a:t>
            </a:r>
          </a:p>
        </p:txBody>
      </p:sp>
      <p:sp>
        <p:nvSpPr>
          <p:cNvPr id="19" name="Shape 4">
            <a:extLst>
              <a:ext uri="{FF2B5EF4-FFF2-40B4-BE49-F238E27FC236}">
                <a16:creationId xmlns:a16="http://schemas.microsoft.com/office/drawing/2014/main" id="{76B4AA0C-5A2E-123B-DD5B-DACA2E51FC04}"/>
              </a:ext>
            </a:extLst>
          </p:cNvPr>
          <p:cNvSpPr>
            <a:spLocks noGrp="1"/>
          </p:cNvSpPr>
          <p:nvPr/>
        </p:nvSpPr>
        <p:spPr>
          <a:xfrm>
            <a:off x="5884164" y="3570732"/>
            <a:ext cx="1106895" cy="0"/>
          </a:xfrm>
          <a:prstGeom prst="line">
            <a:avLst/>
          </a:prstGeom>
          <a:noFill/>
          <a:ln w="27940">
            <a:solidFill>
              <a:srgbClr val="1F77B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1" name="Shape 4">
            <a:extLst>
              <a:ext uri="{FF2B5EF4-FFF2-40B4-BE49-F238E27FC236}">
                <a16:creationId xmlns:a16="http://schemas.microsoft.com/office/drawing/2014/main" id="{196B4802-B9C7-809F-8991-251FBA1068EF}"/>
              </a:ext>
            </a:extLst>
          </p:cNvPr>
          <p:cNvSpPr>
            <a:spLocks noGrp="1"/>
          </p:cNvSpPr>
          <p:nvPr/>
        </p:nvSpPr>
        <p:spPr>
          <a:xfrm>
            <a:off x="8207707" y="3570732"/>
            <a:ext cx="1106895" cy="0"/>
          </a:xfrm>
          <a:prstGeom prst="line">
            <a:avLst/>
          </a:prstGeom>
          <a:noFill/>
          <a:ln w="27940">
            <a:solidFill>
              <a:srgbClr val="1F77B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7065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A6F546F-FF8E-4289-BDC8-215C2A6F1C18}"/>
              </a:ext>
            </a:extLst>
          </p:cNvPr>
          <p:cNvSpPr>
            <a:spLocks noGrp="1"/>
          </p:cNvSpPr>
          <p:nvPr/>
        </p:nvSpPr>
        <p:spPr>
          <a:xfrm>
            <a:off x="548640" y="292608"/>
            <a:ext cx="804672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700" b="1">
                <a:solidFill>
                  <a:srgbClr val="12395B"/>
                </a:solidFill>
                <a:latin typeface="Aptos Display"/>
                <a:ea typeface="Aptos Display"/>
                <a:cs typeface="Aptos Display"/>
              </a:rPr>
              <a:t>Three CSVs become trusted warehouse tables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A0F71C2-DF23-430F-BC51-8C1CA45488E6}"/>
              </a:ext>
            </a:extLst>
          </p:cNvPr>
          <p:cNvSpPr>
            <a:spLocks noGrp="1"/>
          </p:cNvSpPr>
          <p:nvPr/>
        </p:nvSpPr>
        <p:spPr>
          <a:xfrm>
            <a:off x="566928" y="74980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>
                <a:solidFill>
                  <a:srgbClr val="5B6670"/>
                </a:solidFill>
              </a:rPr>
              <a:t>PySpark cleans the retail data once, preserves it in Iceberg, and publishes Snowflake-ready CSV.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B7534A5-A879-41EB-ABDA-4425D634BE14}"/>
              </a:ext>
            </a:extLst>
          </p:cNvPr>
          <p:cNvSpPr>
            <a:spLocks noGrp="1"/>
          </p:cNvSpPr>
          <p:nvPr/>
        </p:nvSpPr>
        <p:spPr>
          <a:xfrm>
            <a:off x="685800" y="1234440"/>
            <a:ext cx="2011680" cy="274320"/>
          </a:xfrm>
          <a:prstGeom prst="rect">
            <a:avLst/>
          </a:prstGeom>
          <a:noFill/>
        </p:spPr>
        <p:txBody>
          <a:bodyPr wrap="square" lIns="635" tIns="635" rIns="635" bIns="635" anchor="t">
            <a:normAutofit/>
          </a:bodyPr>
          <a:lstStyle/>
          <a:p>
            <a:pPr marL="0" indent="0">
              <a:buNone/>
            </a:pPr>
            <a:r>
              <a:rPr sz="1700" b="1">
                <a:solidFill>
                  <a:srgbClr val="12395B"/>
                </a:solidFill>
              </a:rPr>
              <a:t>Raw input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1436850-146C-4F4F-88E3-D227B9E8EDC1}"/>
              </a:ext>
            </a:extLst>
          </p:cNvPr>
          <p:cNvSpPr>
            <a:spLocks noGrp="1"/>
          </p:cNvSpPr>
          <p:nvPr/>
        </p:nvSpPr>
        <p:spPr>
          <a:xfrm>
            <a:off x="685800" y="1627632"/>
            <a:ext cx="3108960" cy="1188720"/>
          </a:xfrm>
          <a:prstGeom prst="rect">
            <a:avLst/>
          </a:prstGeom>
          <a:noFill/>
        </p:spPr>
        <p:txBody>
          <a:bodyPr wrap="square" lIns="635" tIns="635" rIns="635" bIns="635" anchor="t">
            <a:normAutofit/>
          </a:bodyPr>
          <a:lstStyle/>
          <a:p>
            <a:pPr marL="0" indent="0">
              <a:buNone/>
            </a:pPr>
            <a:r>
              <a:rPr sz="1500">
                <a:solidFill>
                  <a:srgbClr val="1B1F24"/>
                </a:solidFill>
              </a:rPr>
              <a:t>68 rows across customers, products, and orders contain mixed dates and booleans, malformed IDs, currency symbols, duplicates, invalid keys, and impossible values.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5F0B91C-0F34-4481-9394-D696004344AC}"/>
              </a:ext>
            </a:extLst>
          </p:cNvPr>
          <p:cNvSpPr>
            <a:spLocks noGrp="1"/>
          </p:cNvSpPr>
          <p:nvPr/>
        </p:nvSpPr>
        <p:spPr>
          <a:xfrm>
            <a:off x="4251960" y="1234440"/>
            <a:ext cx="2011680" cy="274320"/>
          </a:xfrm>
          <a:prstGeom prst="rect">
            <a:avLst/>
          </a:prstGeom>
          <a:noFill/>
        </p:spPr>
        <p:txBody>
          <a:bodyPr wrap="square" lIns="635" tIns="635" rIns="635" bIns="635" anchor="t">
            <a:normAutofit/>
          </a:bodyPr>
          <a:lstStyle/>
          <a:p>
            <a:pPr marL="0" indent="0">
              <a:buNone/>
            </a:pPr>
            <a:r>
              <a:rPr sz="1700" b="1">
                <a:solidFill>
                  <a:srgbClr val="12395B"/>
                </a:solidFill>
              </a:rPr>
              <a:t>Processing goal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1C2BBB7-7EE4-44AA-9E36-E896829C2B44}"/>
              </a:ext>
            </a:extLst>
          </p:cNvPr>
          <p:cNvSpPr>
            <a:spLocks noGrp="1"/>
          </p:cNvSpPr>
          <p:nvPr/>
        </p:nvSpPr>
        <p:spPr>
          <a:xfrm>
            <a:off x="4251960" y="1627632"/>
            <a:ext cx="3108960" cy="1188720"/>
          </a:xfrm>
          <a:prstGeom prst="rect">
            <a:avLst/>
          </a:prstGeom>
          <a:noFill/>
        </p:spPr>
        <p:txBody>
          <a:bodyPr wrap="square" lIns="635" tIns="635" rIns="635" bIns="635" anchor="t">
            <a:normAutofit/>
          </a:bodyPr>
          <a:lstStyle/>
          <a:p>
            <a:pPr marL="0" indent="0">
              <a:buNone/>
            </a:pPr>
            <a:r>
              <a:rPr sz="1500">
                <a:solidFill>
                  <a:srgbClr val="1B1F24"/>
                </a:solidFill>
              </a:rPr>
              <a:t>Run on EMR, read raw data permissively, clean and cast by domain, validate referential integrity, then write Iceberg tables and Snowflake exports.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DAFAE7B-CA52-4AC3-8D46-368F7861C574}"/>
              </a:ext>
            </a:extLst>
          </p:cNvPr>
          <p:cNvSpPr>
            <a:spLocks noGrp="1"/>
          </p:cNvSpPr>
          <p:nvPr/>
        </p:nvSpPr>
        <p:spPr>
          <a:xfrm>
            <a:off x="7818120" y="1234440"/>
            <a:ext cx="2011680" cy="274320"/>
          </a:xfrm>
          <a:prstGeom prst="rect">
            <a:avLst/>
          </a:prstGeom>
          <a:noFill/>
        </p:spPr>
        <p:txBody>
          <a:bodyPr wrap="square" lIns="635" tIns="635" rIns="635" bIns="635" anchor="t">
            <a:normAutofit/>
          </a:bodyPr>
          <a:lstStyle/>
          <a:p>
            <a:pPr marL="0" indent="0">
              <a:buNone/>
            </a:pPr>
            <a:r>
              <a:rPr sz="1700" b="1">
                <a:solidFill>
                  <a:srgbClr val="12395B"/>
                </a:solidFill>
              </a:rPr>
              <a:t>SQL handoff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A93F91F-B693-492B-8B16-C0982781DAB0}"/>
              </a:ext>
            </a:extLst>
          </p:cNvPr>
          <p:cNvSpPr>
            <a:spLocks noGrp="1"/>
          </p:cNvSpPr>
          <p:nvPr/>
        </p:nvSpPr>
        <p:spPr>
          <a:xfrm>
            <a:off x="7818120" y="1627632"/>
            <a:ext cx="3108960" cy="1188720"/>
          </a:xfrm>
          <a:prstGeom prst="rect">
            <a:avLst/>
          </a:prstGeom>
          <a:noFill/>
        </p:spPr>
        <p:txBody>
          <a:bodyPr wrap="square" lIns="635" tIns="635" rIns="635" bIns="635" anchor="t">
            <a:normAutofit/>
          </a:bodyPr>
          <a:lstStyle/>
          <a:p>
            <a:pPr marL="0" indent="0">
              <a:buNone/>
            </a:pPr>
            <a:r>
              <a:rPr sz="1500">
                <a:solidFill>
                  <a:srgbClr val="1B1F24"/>
                </a:solidFill>
              </a:rPr>
              <a:t>One PySpark pipeline plus four ordered Snowflake scripts: DDL, load, seven validation checks, and seven analytics queries.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91FA7BC0-707E-4480-B24F-7E8E5B264119}"/>
              </a:ext>
            </a:extLst>
          </p:cNvPr>
          <p:cNvSpPr>
            <a:spLocks noGrp="1"/>
          </p:cNvSpPr>
          <p:nvPr/>
        </p:nvSpPr>
        <p:spPr>
          <a:xfrm>
            <a:off x="731520" y="3794760"/>
            <a:ext cx="201168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txBody>
          <a:bodyPr wrap="square" lIns="1016" tIns="1016" rIns="1016" bIns="1016" anchor="ctr"/>
          <a:lstStyle/>
          <a:p>
            <a:pPr marL="0" indent="0" algn="ctr">
              <a:buNone/>
            </a:pPr>
            <a:r>
              <a:rPr sz="2000" b="1">
                <a:solidFill>
                  <a:srgbClr val="12395B"/>
                </a:solidFill>
              </a:rPr>
              <a:t>3</a:t>
            </a:r>
          </a:p>
          <a:p>
            <a:pPr marL="0" indent="0" algn="ctr">
              <a:buNone/>
            </a:pPr>
            <a:r>
              <a:rPr sz="2000" b="1">
                <a:solidFill>
                  <a:srgbClr val="12395B"/>
                </a:solidFill>
              </a:rPr>
              <a:t>Source CSVs</a:t>
            </a: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865280C2-B6D9-432E-92DF-4CDC42EC28DA}"/>
              </a:ext>
            </a:extLst>
          </p:cNvPr>
          <p:cNvSpPr>
            <a:spLocks noGrp="1"/>
          </p:cNvSpPr>
          <p:nvPr/>
        </p:nvSpPr>
        <p:spPr>
          <a:xfrm>
            <a:off x="3611880" y="3794760"/>
            <a:ext cx="201168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txBody>
          <a:bodyPr wrap="square" lIns="1016" tIns="1016" rIns="1016" bIns="1016" anchor="ctr"/>
          <a:lstStyle/>
          <a:p>
            <a:pPr marL="0" indent="0" algn="ctr">
              <a:buNone/>
            </a:pPr>
            <a:r>
              <a:rPr sz="2000" b="1">
                <a:solidFill>
                  <a:srgbClr val="12395B"/>
                </a:solidFill>
              </a:rPr>
              <a:t>5</a:t>
            </a:r>
          </a:p>
          <a:p>
            <a:pPr marL="0" indent="0" algn="ctr">
              <a:buNone/>
            </a:pPr>
            <a:r>
              <a:rPr sz="2000" b="1">
                <a:solidFill>
                  <a:srgbClr val="12395B"/>
                </a:solidFill>
              </a:rPr>
              <a:t>Iceberg tables</a:t>
            </a: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4A95CEAC-655E-40F3-B949-B7FF7F7E8756}"/>
              </a:ext>
            </a:extLst>
          </p:cNvPr>
          <p:cNvSpPr>
            <a:spLocks noGrp="1"/>
          </p:cNvSpPr>
          <p:nvPr/>
        </p:nvSpPr>
        <p:spPr>
          <a:xfrm>
            <a:off x="6492240" y="3794760"/>
            <a:ext cx="201168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txBody>
          <a:bodyPr wrap="square" lIns="1016" tIns="1016" rIns="1016" bIns="1016" anchor="ctr"/>
          <a:lstStyle/>
          <a:p>
            <a:pPr marL="0" indent="0" algn="ctr">
              <a:buNone/>
            </a:pPr>
            <a:r>
              <a:rPr sz="2000" b="1">
                <a:solidFill>
                  <a:srgbClr val="12395B"/>
                </a:solidFill>
              </a:rPr>
              <a:t>4</a:t>
            </a:r>
          </a:p>
          <a:p>
            <a:pPr marL="0" indent="0" algn="ctr">
              <a:buNone/>
            </a:pPr>
            <a:r>
              <a:rPr sz="2000" b="1">
                <a:solidFill>
                  <a:srgbClr val="12395B"/>
                </a:solidFill>
              </a:rPr>
              <a:t>Snowflake tables</a:t>
            </a: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EDDECEB4-7B8B-4BA2-BC6D-E725C8C7A0C9}"/>
              </a:ext>
            </a:extLst>
          </p:cNvPr>
          <p:cNvSpPr>
            <a:spLocks noGrp="1"/>
          </p:cNvSpPr>
          <p:nvPr/>
        </p:nvSpPr>
        <p:spPr>
          <a:xfrm>
            <a:off x="9372600" y="3794760"/>
            <a:ext cx="201168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txBody>
          <a:bodyPr wrap="square" lIns="1016" tIns="1016" rIns="1016" bIns="1016" anchor="ctr"/>
          <a:lstStyle/>
          <a:p>
            <a:pPr marL="0" indent="0" algn="ctr">
              <a:buNone/>
            </a:pPr>
            <a:r>
              <a:rPr sz="2000" b="1">
                <a:solidFill>
                  <a:srgbClr val="12395B"/>
                </a:solidFill>
              </a:rPr>
              <a:t>7</a:t>
            </a:r>
          </a:p>
          <a:p>
            <a:pPr marL="0" indent="0" algn="ctr">
              <a:buNone/>
            </a:pPr>
            <a:r>
              <a:rPr sz="2000" b="1">
                <a:solidFill>
                  <a:srgbClr val="12395B"/>
                </a:solidFill>
              </a:rPr>
              <a:t>Analytics queries</a:t>
            </a:r>
          </a:p>
        </p:txBody>
      </p:sp>
    </p:spTree>
    <p:extLst>
      <p:ext uri="{BB962C8B-B14F-4D97-AF65-F5344CB8AC3E}">
        <p14:creationId xmlns:p14="http://schemas.microsoft.com/office/powerpoint/2010/main" val="7737745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2E07BB7-636B-4118-8070-A90BE6F363D3}"/>
              </a:ext>
            </a:extLst>
          </p:cNvPr>
          <p:cNvSpPr>
            <a:spLocks noGrp="1"/>
          </p:cNvSpPr>
          <p:nvPr/>
        </p:nvSpPr>
        <p:spPr>
          <a:xfrm>
            <a:off x="548640" y="292608"/>
            <a:ext cx="804672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700" b="1">
                <a:solidFill>
                  <a:srgbClr val="12395B"/>
                </a:solidFill>
                <a:latin typeface="Aptos Display"/>
                <a:ea typeface="Aptos Display"/>
                <a:cs typeface="Aptos Display"/>
              </a:rPr>
              <a:t>Order validation removes most of the bad rows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A516E1A-BE37-4D02-8C75-74BFAA502958}"/>
              </a:ext>
            </a:extLst>
          </p:cNvPr>
          <p:cNvSpPr>
            <a:spLocks noGrp="1"/>
          </p:cNvSpPr>
          <p:nvPr/>
        </p:nvSpPr>
        <p:spPr>
          <a:xfrm>
            <a:off x="566928" y="74980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>
                <a:solidFill>
                  <a:srgbClr val="5B6670"/>
                </a:solidFill>
              </a:rPr>
              <a:t>Customers and products retain 20 of 22 rows; orders retain 11 of 24 after business and foreign-key checks.</a:t>
            </a:r>
          </a:p>
        </p:txBody>
      </p:sp>
      <p:graphicFrame>
        <p:nvGraphicFramePr>
          <p:cNvPr id="13" name="Chart 0"/>
          <p:cNvGraphicFramePr/>
          <p:nvPr/>
        </p:nvGraphicFramePr>
        <p:xfrm>
          <a:off x="685800" y="1234440"/>
          <a:ext cx="54864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>
            <a:extLst>
              <a:ext uri="{FF2B5EF4-FFF2-40B4-BE49-F238E27FC236}">
                <a16:creationId xmlns:a16="http://schemas.microsoft.com/office/drawing/2014/main" id="{7F610434-4F55-41FE-86BB-0E695E6B1BA3}"/>
              </a:ext>
            </a:extLst>
          </p:cNvPr>
          <p:cNvSpPr>
            <a:spLocks noGrp="1"/>
          </p:cNvSpPr>
          <p:nvPr/>
        </p:nvSpPr>
        <p:spPr>
          <a:xfrm>
            <a:off x="6720840" y="1261872"/>
            <a:ext cx="2743200" cy="320040"/>
          </a:xfrm>
          <a:prstGeom prst="rect">
            <a:avLst/>
          </a:prstGeom>
          <a:noFill/>
        </p:spPr>
        <p:txBody>
          <a:bodyPr wrap="square" lIns="635" tIns="635" rIns="635" bIns="635" anchor="t">
            <a:normAutofit fontScale="97723"/>
          </a:bodyPr>
          <a:lstStyle/>
          <a:p>
            <a:pPr marL="0" indent="0">
              <a:buNone/>
            </a:pPr>
            <a:r>
              <a:rPr sz="1800" b="1">
                <a:solidFill>
                  <a:srgbClr val="12395B"/>
                </a:solidFill>
              </a:rPr>
              <a:t>Rules that drive the result</a:t>
            </a: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1F3F881F-80CD-4D51-AE3B-A7521D4F7E00}"/>
              </a:ext>
            </a:extLst>
          </p:cNvPr>
          <p:cNvSpPr>
            <a:spLocks noGrp="1"/>
          </p:cNvSpPr>
          <p:nvPr/>
        </p:nvSpPr>
        <p:spPr>
          <a:xfrm>
            <a:off x="6720840" y="1783080"/>
            <a:ext cx="4206240" cy="2103120"/>
          </a:xfrm>
          <a:prstGeom prst="rect">
            <a:avLst/>
          </a:prstGeom>
          <a:noFill/>
        </p:spPr>
        <p:txBody>
          <a:bodyPr wrap="square" lIns="635" tIns="635" rIns="635" bIns="635" anchor="t">
            <a:normAutofit/>
          </a:bodyPr>
          <a:lstStyle/>
          <a:p>
            <a:pPr marL="0" indent="0">
              <a:buNone/>
            </a:pPr>
            <a:r>
              <a:rPr sz="1500">
                <a:solidFill>
                  <a:srgbClr val="1B1F24"/>
                </a:solidFill>
              </a:rPr>
              <a:t>• Numeric customer and order IDs</a:t>
            </a:r>
          </a:p>
          <a:p>
            <a:pPr marL="0" indent="0">
              <a:buNone/>
            </a:pPr>
            <a:r>
              <a:rPr sz="1500">
                <a:solidFill>
                  <a:srgbClr val="1B1F24"/>
                </a:solidFill>
              </a:rPr>
              <a:t>• Product IDs must match P####</a:t>
            </a:r>
          </a:p>
          <a:p>
            <a:pPr marL="0" indent="0">
              <a:buNone/>
            </a:pPr>
            <a:r>
              <a:rPr sz="1500">
                <a:solidFill>
                  <a:srgbClr val="1B1F24"/>
                </a:solidFill>
              </a:rPr>
              <a:t>• Quantity must be 1–100</a:t>
            </a:r>
          </a:p>
          <a:p>
            <a:pPr marL="0" indent="0">
              <a:buNone/>
            </a:pPr>
            <a:r>
              <a:rPr sz="1500">
                <a:solidFill>
                  <a:srgbClr val="1B1F24"/>
                </a:solidFill>
              </a:rPr>
              <a:t>• Unit price must be positive</a:t>
            </a:r>
          </a:p>
          <a:p>
            <a:pPr marL="0" indent="0">
              <a:buNone/>
            </a:pPr>
            <a:r>
              <a:rPr sz="1500">
                <a:solidFill>
                  <a:srgbClr val="1B1F24"/>
                </a:solidFill>
              </a:rPr>
              <a:t>• Discount must be 0–100%</a:t>
            </a:r>
          </a:p>
          <a:p>
            <a:pPr marL="0" indent="0">
              <a:buNone/>
            </a:pPr>
            <a:r>
              <a:rPr sz="1500">
                <a:solidFill>
                  <a:srgbClr val="1B1F24"/>
                </a:solidFill>
              </a:rPr>
              <a:t>• Ship date cannot precede order date</a:t>
            </a:r>
          </a:p>
          <a:p>
            <a:pPr marL="0" indent="0">
              <a:buNone/>
            </a:pPr>
            <a:r>
              <a:rPr sz="1500">
                <a:solidFill>
                  <a:srgbClr val="1B1F24"/>
                </a:solidFill>
              </a:rPr>
              <a:t>• Customer and product keys must exist</a:t>
            </a: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62830405-53C8-4C08-93A0-E3619CF21DF9}"/>
              </a:ext>
            </a:extLst>
          </p:cNvPr>
          <p:cNvSpPr>
            <a:spLocks noGrp="1"/>
          </p:cNvSpPr>
          <p:nvPr/>
        </p:nvSpPr>
        <p:spPr>
          <a:xfrm>
            <a:off x="6858000" y="4572000"/>
            <a:ext cx="1371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txBody>
          <a:bodyPr wrap="square" lIns="1016" tIns="1016" rIns="1016" bIns="1016" anchor="ctr"/>
          <a:lstStyle/>
          <a:p>
            <a:pPr marL="0" indent="0" algn="ctr">
              <a:buNone/>
            </a:pPr>
            <a:r>
              <a:rPr sz="1600" b="1">
                <a:solidFill>
                  <a:srgbClr val="12395B"/>
                </a:solidFill>
              </a:rPr>
              <a:t>Raw rows</a:t>
            </a:r>
          </a:p>
          <a:p>
            <a:pPr marL="0" indent="0" algn="ctr">
              <a:buNone/>
            </a:pPr>
            <a:r>
              <a:rPr sz="1600" b="1">
                <a:solidFill>
                  <a:srgbClr val="12395B"/>
                </a:solidFill>
              </a:rPr>
              <a:t>68</a:t>
            </a: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4F2237A3-8CE5-4D4E-844E-26B73EB32A6C}"/>
              </a:ext>
            </a:extLst>
          </p:cNvPr>
          <p:cNvSpPr>
            <a:spLocks noGrp="1"/>
          </p:cNvSpPr>
          <p:nvPr/>
        </p:nvSpPr>
        <p:spPr>
          <a:xfrm>
            <a:off x="8595360" y="4572000"/>
            <a:ext cx="1463040" cy="658368"/>
          </a:xfrm>
          <a:prstGeom prst="roundRect">
            <a:avLst>
              <a:gd name="adj" fmla="val 11111"/>
            </a:avLst>
          </a:prstGeom>
          <a:solidFill>
            <a:srgbClr val="DFF4EA"/>
          </a:solidFill>
          <a:ln w="12700">
            <a:solidFill>
              <a:srgbClr val="D9E2EC"/>
            </a:solidFill>
          </a:ln>
        </p:spPr>
        <p:txBody>
          <a:bodyPr wrap="square" lIns="1016" tIns="1016" rIns="1016" bIns="1016" anchor="ctr"/>
          <a:lstStyle/>
          <a:p>
            <a:pPr marL="0" indent="0" algn="ctr">
              <a:buNone/>
            </a:pPr>
            <a:r>
              <a:rPr sz="1600" b="1">
                <a:solidFill>
                  <a:srgbClr val="12395B"/>
                </a:solidFill>
              </a:rPr>
              <a:t>Curated rows</a:t>
            </a:r>
          </a:p>
          <a:p>
            <a:pPr marL="0" indent="0" algn="ctr">
              <a:buNone/>
            </a:pPr>
            <a:r>
              <a:rPr sz="1600" b="1">
                <a:solidFill>
                  <a:srgbClr val="12395B"/>
                </a:solidFill>
              </a:rPr>
              <a:t>51</a:t>
            </a: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291CC936-F0E9-4F6E-A8E6-D884E24B4767}"/>
              </a:ext>
            </a:extLst>
          </p:cNvPr>
          <p:cNvSpPr>
            <a:spLocks noGrp="1"/>
          </p:cNvSpPr>
          <p:nvPr/>
        </p:nvSpPr>
        <p:spPr>
          <a:xfrm>
            <a:off x="10332720" y="4572000"/>
            <a:ext cx="1463040" cy="658368"/>
          </a:xfrm>
          <a:prstGeom prst="roundRect">
            <a:avLst>
              <a:gd name="adj" fmla="val 11111"/>
            </a:avLst>
          </a:prstGeom>
          <a:solidFill>
            <a:srgbClr val="FDECEC"/>
          </a:solidFill>
          <a:ln w="12700">
            <a:solidFill>
              <a:srgbClr val="D9E2EC"/>
            </a:solidFill>
          </a:ln>
        </p:spPr>
        <p:txBody>
          <a:bodyPr wrap="square" lIns="1016" tIns="1016" rIns="1016" bIns="1016" anchor="ctr"/>
          <a:lstStyle/>
          <a:p>
            <a:pPr marL="0" indent="0" algn="ctr">
              <a:buNone/>
            </a:pPr>
            <a:r>
              <a:rPr sz="1600" b="1">
                <a:solidFill>
                  <a:srgbClr val="12395B"/>
                </a:solidFill>
              </a:rPr>
              <a:t>Removed</a:t>
            </a:r>
          </a:p>
          <a:p>
            <a:pPr marL="0" indent="0" algn="ctr">
              <a:buNone/>
            </a:pPr>
            <a:r>
              <a:rPr sz="1600" b="1">
                <a:solidFill>
                  <a:srgbClr val="12395B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2652231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EAE4DA6-0904-48AB-823A-85DDF5410CDA}"/>
              </a:ext>
            </a:extLst>
          </p:cNvPr>
          <p:cNvSpPr>
            <a:spLocks noGrp="1"/>
          </p:cNvSpPr>
          <p:nvPr/>
        </p:nvSpPr>
        <p:spPr>
          <a:xfrm>
            <a:off x="548640" y="292608"/>
            <a:ext cx="804672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700" b="1">
                <a:solidFill>
                  <a:srgbClr val="12395B"/>
                </a:solidFill>
                <a:latin typeface="Aptos Display"/>
                <a:ea typeface="Aptos Display"/>
                <a:cs typeface="Aptos Display"/>
              </a:rPr>
              <a:t>The pipeline ran end to end on EMR and S3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D0C39AE-7ACE-4160-B30E-CA5D79FB1116}"/>
              </a:ext>
            </a:extLst>
          </p:cNvPr>
          <p:cNvSpPr>
            <a:spLocks noGrp="1"/>
          </p:cNvSpPr>
          <p:nvPr/>
        </p:nvSpPr>
        <p:spPr>
          <a:xfrm>
            <a:off x="566928" y="74980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>
                <a:solidFill>
                  <a:srgbClr val="5B6670"/>
                </a:solidFill>
              </a:rPr>
              <a:t>One S3 bucket separates raw files, the Iceberg warehouse, and Snowflake-ready exports.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5037471-1B8B-4224-A958-E6CF5911DDC6}"/>
              </a:ext>
            </a:extLst>
          </p:cNvPr>
          <p:cNvSpPr>
            <a:spLocks noGrp="1"/>
          </p:cNvSpPr>
          <p:nvPr/>
        </p:nvSpPr>
        <p:spPr>
          <a:xfrm>
            <a:off x="2095450" y="3108960"/>
            <a:ext cx="365760" cy="0"/>
          </a:xfrm>
          <a:prstGeom prst="line">
            <a:avLst/>
          </a:prstGeom>
          <a:noFill/>
          <a:ln w="25400">
            <a:solidFill>
              <a:srgbClr val="1F77B4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20368A0-ECD1-4081-B354-678EECE9D6C8}"/>
              </a:ext>
            </a:extLst>
          </p:cNvPr>
          <p:cNvSpPr>
            <a:spLocks noGrp="1"/>
          </p:cNvSpPr>
          <p:nvPr/>
        </p:nvSpPr>
        <p:spPr>
          <a:xfrm>
            <a:off x="815289" y="2749644"/>
            <a:ext cx="12801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txBody>
          <a:bodyPr wrap="square" lIns="1016" tIns="1016" rIns="1016" bIns="1016" anchor="ctr"/>
          <a:lstStyle/>
          <a:p>
            <a:pPr marL="0" indent="0" algn="ctr">
              <a:buNone/>
            </a:pPr>
            <a:r>
              <a:rPr sz="1300" b="1">
                <a:solidFill>
                  <a:srgbClr val="12395B"/>
                </a:solidFill>
              </a:rPr>
              <a:t>S3 Raw</a:t>
            </a:r>
          </a:p>
          <a:p>
            <a:pPr marL="0" indent="0" algn="ctr">
              <a:buNone/>
            </a:pPr>
            <a:r>
              <a:rPr sz="1300" b="1">
                <a:solidFill>
                  <a:srgbClr val="12395B"/>
                </a:solidFill>
              </a:rPr>
              <a:t>CSV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2CC2C60-D113-4FFB-B419-5701B121E5D0}"/>
              </a:ext>
            </a:extLst>
          </p:cNvPr>
          <p:cNvSpPr>
            <a:spLocks noGrp="1"/>
          </p:cNvSpPr>
          <p:nvPr/>
        </p:nvSpPr>
        <p:spPr>
          <a:xfrm>
            <a:off x="2461209" y="2749644"/>
            <a:ext cx="1325880" cy="777240"/>
          </a:xfrm>
          <a:prstGeom prst="roundRect">
            <a:avLst>
              <a:gd name="adj" fmla="val 9412"/>
            </a:avLst>
          </a:prstGeom>
          <a:solidFill>
            <a:srgbClr val="E4F3FF"/>
          </a:solidFill>
          <a:ln w="12700">
            <a:solidFill>
              <a:srgbClr val="D9E2EC"/>
            </a:solidFill>
          </a:ln>
        </p:spPr>
        <p:txBody>
          <a:bodyPr wrap="square" lIns="1016" tIns="1016" rIns="1016" bIns="1016" anchor="ctr"/>
          <a:lstStyle/>
          <a:p>
            <a:pPr marL="0" indent="0" algn="ctr">
              <a:buNone/>
            </a:pPr>
            <a:r>
              <a:rPr sz="1300" b="1">
                <a:solidFill>
                  <a:srgbClr val="12395B"/>
                </a:solidFill>
              </a:rPr>
              <a:t>PySpark</a:t>
            </a:r>
          </a:p>
          <a:p>
            <a:pPr marL="0" indent="0" algn="ctr">
              <a:buNone/>
            </a:pPr>
            <a:r>
              <a:rPr sz="1300" b="1">
                <a:solidFill>
                  <a:srgbClr val="12395B"/>
                </a:solidFill>
              </a:rPr>
              <a:t>on EMR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EC8BCC8-E720-49B1-B3AA-A3AEBAB19E15}"/>
              </a:ext>
            </a:extLst>
          </p:cNvPr>
          <p:cNvSpPr>
            <a:spLocks noGrp="1"/>
          </p:cNvSpPr>
          <p:nvPr/>
        </p:nvSpPr>
        <p:spPr>
          <a:xfrm>
            <a:off x="4152849" y="2749644"/>
            <a:ext cx="1417320" cy="777240"/>
          </a:xfrm>
          <a:prstGeom prst="roundRect">
            <a:avLst>
              <a:gd name="adj" fmla="val 9412"/>
            </a:avLst>
          </a:prstGeom>
          <a:solidFill>
            <a:srgbClr val="DFF4EA"/>
          </a:solidFill>
          <a:ln w="12700">
            <a:solidFill>
              <a:srgbClr val="D9E2EC"/>
            </a:solidFill>
          </a:ln>
        </p:spPr>
        <p:txBody>
          <a:bodyPr wrap="square" lIns="1016" tIns="1016" rIns="1016" bIns="1016" anchor="ctr"/>
          <a:lstStyle/>
          <a:p>
            <a:pPr marL="0" indent="0" algn="ctr">
              <a:buNone/>
            </a:pPr>
            <a:r>
              <a:rPr sz="1300" b="1">
                <a:solidFill>
                  <a:srgbClr val="12395B"/>
                </a:solidFill>
              </a:rPr>
              <a:t>Clean +</a:t>
            </a:r>
          </a:p>
          <a:p>
            <a:pPr marL="0" indent="0" algn="ctr">
              <a:buNone/>
            </a:pPr>
            <a:r>
              <a:rPr sz="1300" b="1">
                <a:solidFill>
                  <a:srgbClr val="12395B"/>
                </a:solidFill>
              </a:rPr>
              <a:t>Validate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183CC11-59D0-467D-A990-5E2E1B4DEB11}"/>
              </a:ext>
            </a:extLst>
          </p:cNvPr>
          <p:cNvSpPr>
            <a:spLocks noGrp="1"/>
          </p:cNvSpPr>
          <p:nvPr/>
        </p:nvSpPr>
        <p:spPr>
          <a:xfrm>
            <a:off x="5935929" y="2749644"/>
            <a:ext cx="1417320" cy="777240"/>
          </a:xfrm>
          <a:prstGeom prst="roundRect">
            <a:avLst>
              <a:gd name="adj" fmla="val 9412"/>
            </a:avLst>
          </a:prstGeom>
          <a:solidFill>
            <a:srgbClr val="FFF4DD"/>
          </a:solidFill>
          <a:ln w="12700">
            <a:solidFill>
              <a:srgbClr val="D9E2EC"/>
            </a:solidFill>
          </a:ln>
        </p:spPr>
        <p:txBody>
          <a:bodyPr wrap="square" lIns="1016" tIns="1016" rIns="1016" bIns="1016" anchor="ctr"/>
          <a:lstStyle/>
          <a:p>
            <a:pPr marL="0" indent="0" algn="ctr">
              <a:buNone/>
            </a:pPr>
            <a:r>
              <a:rPr sz="1300" b="1">
                <a:solidFill>
                  <a:srgbClr val="12395B"/>
                </a:solidFill>
              </a:rPr>
              <a:t>Glue +</a:t>
            </a:r>
          </a:p>
          <a:p>
            <a:pPr marL="0" indent="0" algn="ctr">
              <a:buNone/>
            </a:pPr>
            <a:r>
              <a:rPr sz="1300" b="1">
                <a:solidFill>
                  <a:srgbClr val="12395B"/>
                </a:solidFill>
              </a:rPr>
              <a:t>Iceberg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E4ACCD6-A6FF-4AA7-A95E-35F6787CC65E}"/>
              </a:ext>
            </a:extLst>
          </p:cNvPr>
          <p:cNvSpPr>
            <a:spLocks noGrp="1"/>
          </p:cNvSpPr>
          <p:nvPr/>
        </p:nvSpPr>
        <p:spPr>
          <a:xfrm>
            <a:off x="7719009" y="2749644"/>
            <a:ext cx="1600200" cy="777240"/>
          </a:xfrm>
          <a:prstGeom prst="roundRect">
            <a:avLst>
              <a:gd name="adj" fmla="val 9412"/>
            </a:avLst>
          </a:prstGeom>
          <a:solidFill>
            <a:srgbClr val="ECE8FF"/>
          </a:solidFill>
          <a:ln w="12700">
            <a:solidFill>
              <a:srgbClr val="D9E2EC"/>
            </a:solidFill>
          </a:ln>
        </p:spPr>
        <p:txBody>
          <a:bodyPr wrap="square" lIns="1016" tIns="1016" rIns="1016" bIns="1016" anchor="ctr"/>
          <a:lstStyle/>
          <a:p>
            <a:pPr marL="0" indent="0" algn="ctr">
              <a:buNone/>
            </a:pPr>
            <a:r>
              <a:rPr sz="1300" b="1">
                <a:solidFill>
                  <a:srgbClr val="12395B"/>
                </a:solidFill>
              </a:rPr>
              <a:t>S3 CSV</a:t>
            </a:r>
          </a:p>
          <a:p>
            <a:pPr marL="0" indent="0" algn="ctr">
              <a:buNone/>
            </a:pPr>
            <a:r>
              <a:rPr sz="1300" b="1">
                <a:solidFill>
                  <a:srgbClr val="12395B"/>
                </a:solidFill>
              </a:rPr>
              <a:t>Export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DE21DF22-462E-4BC5-B734-3E9276681870}"/>
              </a:ext>
            </a:extLst>
          </p:cNvPr>
          <p:cNvSpPr>
            <a:spLocks noGrp="1"/>
          </p:cNvSpPr>
          <p:nvPr/>
        </p:nvSpPr>
        <p:spPr>
          <a:xfrm>
            <a:off x="9684969" y="2749644"/>
            <a:ext cx="12801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txBody>
          <a:bodyPr wrap="square" lIns="1016" tIns="1016" rIns="1016" bIns="1016" anchor="ctr"/>
          <a:lstStyle/>
          <a:p>
            <a:pPr marL="0" indent="0" algn="ctr">
              <a:buNone/>
            </a:pPr>
            <a:r>
              <a:rPr sz="1300" b="1">
                <a:solidFill>
                  <a:srgbClr val="12395B"/>
                </a:solidFill>
              </a:rPr>
              <a:t>Snowflake</a:t>
            </a:r>
          </a:p>
          <a:p>
            <a:pPr marL="0" indent="0" algn="ctr">
              <a:buNone/>
            </a:pPr>
            <a:r>
              <a:rPr sz="1300" b="1">
                <a:solidFill>
                  <a:srgbClr val="12395B"/>
                </a:solidFill>
              </a:rPr>
              <a:t>SQL</a:t>
            </a: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38238745-9803-4DC5-86FB-44CA4D842731}"/>
              </a:ext>
            </a:extLst>
          </p:cNvPr>
          <p:cNvSpPr>
            <a:spLocks noGrp="1"/>
          </p:cNvSpPr>
          <p:nvPr/>
        </p:nvSpPr>
        <p:spPr>
          <a:xfrm>
            <a:off x="960120" y="4736592"/>
            <a:ext cx="1828800" cy="228600"/>
          </a:xfrm>
          <a:prstGeom prst="rect">
            <a:avLst/>
          </a:prstGeom>
          <a:noFill/>
        </p:spPr>
        <p:txBody>
          <a:bodyPr wrap="square" lIns="635" tIns="635" rIns="635" bIns="635" anchor="t">
            <a:normAutofit/>
          </a:bodyPr>
          <a:lstStyle/>
          <a:p>
            <a:pPr marL="0" indent="0">
              <a:buNone/>
            </a:pPr>
            <a:r>
              <a:rPr sz="1400" b="1">
                <a:solidFill>
                  <a:srgbClr val="12395B"/>
                </a:solidFill>
              </a:rPr>
              <a:t>Raw landing</a:t>
            </a: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986029EF-67D4-4169-B016-1526F8AF0C3C}"/>
              </a:ext>
            </a:extLst>
          </p:cNvPr>
          <p:cNvSpPr>
            <a:spLocks noGrp="1"/>
          </p:cNvSpPr>
          <p:nvPr/>
        </p:nvSpPr>
        <p:spPr>
          <a:xfrm>
            <a:off x="960120" y="5074920"/>
            <a:ext cx="2834640" cy="822960"/>
          </a:xfrm>
          <a:prstGeom prst="rect">
            <a:avLst/>
          </a:prstGeom>
          <a:noFill/>
        </p:spPr>
        <p:txBody>
          <a:bodyPr wrap="square" lIns="635" tIns="635" rIns="635" bIns="635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B1F24"/>
                </a:solidFill>
              </a:rPr>
              <a:t>#############</a:t>
            </a:r>
            <a:r>
              <a:rPr sz="1300" dirty="0">
                <a:solidFill>
                  <a:srgbClr val="1B1F24"/>
                </a:solidFill>
              </a:rPr>
              <a:t>-us-east-2-an</a:t>
            </a:r>
          </a:p>
          <a:p>
            <a:pPr marL="0" indent="0">
              <a:buNone/>
            </a:pPr>
            <a:r>
              <a:rPr sz="1300" dirty="0">
                <a:solidFill>
                  <a:srgbClr val="1B1F24"/>
                </a:solidFill>
              </a:rPr>
              <a:t>3 raw CSVs • 68 rows</a:t>
            </a:r>
          </a:p>
          <a:p>
            <a:pPr marL="0" indent="0">
              <a:buNone/>
            </a:pPr>
            <a:r>
              <a:rPr sz="1300" dirty="0">
                <a:solidFill>
                  <a:srgbClr val="1B1F24"/>
                </a:solidFill>
              </a:rPr>
              <a:t>customers • products • orders</a:t>
            </a: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793C72E7-ADCE-41A5-9489-EAD4155A54E4}"/>
              </a:ext>
            </a:extLst>
          </p:cNvPr>
          <p:cNvSpPr>
            <a:spLocks noGrp="1"/>
          </p:cNvSpPr>
          <p:nvPr/>
        </p:nvSpPr>
        <p:spPr>
          <a:xfrm>
            <a:off x="4754880" y="4736592"/>
            <a:ext cx="1828800" cy="228600"/>
          </a:xfrm>
          <a:prstGeom prst="rect">
            <a:avLst/>
          </a:prstGeom>
          <a:noFill/>
        </p:spPr>
        <p:txBody>
          <a:bodyPr wrap="square" lIns="635" tIns="635" rIns="635" bIns="635" anchor="t">
            <a:normAutofit/>
          </a:bodyPr>
          <a:lstStyle/>
          <a:p>
            <a:pPr marL="0" indent="0">
              <a:buNone/>
            </a:pPr>
            <a:r>
              <a:rPr sz="1400" b="1">
                <a:solidFill>
                  <a:srgbClr val="12395B"/>
                </a:solidFill>
              </a:rPr>
              <a:t>EMR + Iceberg</a:t>
            </a: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16D30DF8-D5C7-47BC-8FEB-DDE000BD5F42}"/>
              </a:ext>
            </a:extLst>
          </p:cNvPr>
          <p:cNvSpPr>
            <a:spLocks noGrp="1"/>
          </p:cNvSpPr>
          <p:nvPr/>
        </p:nvSpPr>
        <p:spPr>
          <a:xfrm>
            <a:off x="4754880" y="5074920"/>
            <a:ext cx="2926080" cy="822960"/>
          </a:xfrm>
          <a:prstGeom prst="rect">
            <a:avLst/>
          </a:prstGeom>
          <a:noFill/>
        </p:spPr>
        <p:txBody>
          <a:bodyPr wrap="square" lIns="635" tIns="635" rIns="635" bIns="635" anchor="t">
            <a:normAutofit/>
          </a:bodyPr>
          <a:lstStyle/>
          <a:p>
            <a:pPr marL="0" indent="0">
              <a:buNone/>
            </a:pPr>
            <a:r>
              <a:rPr sz="1300">
                <a:solidFill>
                  <a:srgbClr val="1B1F24"/>
                </a:solidFill>
              </a:rPr>
              <a:t>Spark 4.0.2-amzn-0</a:t>
            </a:r>
          </a:p>
          <a:p>
            <a:pPr marL="0" indent="0">
              <a:buNone/>
            </a:pPr>
            <a:r>
              <a:rPr sz="1300">
                <a:solidFill>
                  <a:srgbClr val="1B1F24"/>
                </a:solidFill>
              </a:rPr>
              <a:t>AWS Glue catalog + S3FileIO</a:t>
            </a:r>
          </a:p>
          <a:p>
            <a:pPr marL="0" indent="0">
              <a:buNone/>
            </a:pPr>
            <a:r>
              <a:rPr sz="1300">
                <a:solidFill>
                  <a:srgbClr val="1B1F24"/>
                </a:solidFill>
              </a:rPr>
              <a:t>warehouse folder: /iceberg/</a:t>
            </a: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9DA0B2FE-E57A-49DC-A1C7-9D8B0C92DDF7}"/>
              </a:ext>
            </a:extLst>
          </p:cNvPr>
          <p:cNvSpPr>
            <a:spLocks noGrp="1"/>
          </p:cNvSpPr>
          <p:nvPr/>
        </p:nvSpPr>
        <p:spPr>
          <a:xfrm>
            <a:off x="8458200" y="4736592"/>
            <a:ext cx="1828800" cy="228600"/>
          </a:xfrm>
          <a:prstGeom prst="rect">
            <a:avLst/>
          </a:prstGeom>
          <a:noFill/>
        </p:spPr>
        <p:txBody>
          <a:bodyPr wrap="square" lIns="635" tIns="635" rIns="635" bIns="635" anchor="t">
            <a:normAutofit/>
          </a:bodyPr>
          <a:lstStyle/>
          <a:p>
            <a:pPr marL="0" indent="0">
              <a:buNone/>
            </a:pPr>
            <a:r>
              <a:rPr sz="1400" b="1">
                <a:solidFill>
                  <a:srgbClr val="12395B"/>
                </a:solidFill>
              </a:rPr>
              <a:t>Snowflake handoff</a:t>
            </a: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D467340A-ABD3-4465-B20B-D39BFAAB4EFE}"/>
              </a:ext>
            </a:extLst>
          </p:cNvPr>
          <p:cNvSpPr>
            <a:spLocks noGrp="1"/>
          </p:cNvSpPr>
          <p:nvPr/>
        </p:nvSpPr>
        <p:spPr>
          <a:xfrm>
            <a:off x="8458200" y="5074920"/>
            <a:ext cx="2926080" cy="822960"/>
          </a:xfrm>
          <a:prstGeom prst="rect">
            <a:avLst/>
          </a:prstGeom>
          <a:noFill/>
        </p:spPr>
        <p:txBody>
          <a:bodyPr wrap="square" lIns="635" tIns="635" rIns="635" bIns="635" anchor="t">
            <a:normAutofit/>
          </a:bodyPr>
          <a:lstStyle/>
          <a:p>
            <a:pPr marL="0" indent="0">
              <a:buNone/>
            </a:pPr>
            <a:r>
              <a:rPr sz="1300">
                <a:solidFill>
                  <a:srgbClr val="1B1F24"/>
                </a:solidFill>
              </a:rPr>
              <a:t>external stage: /snowflake_stage/</a:t>
            </a:r>
          </a:p>
          <a:p>
            <a:pPr marL="0" indent="0">
              <a:buNone/>
            </a:pPr>
            <a:r>
              <a:rPr sz="1300">
                <a:solidFill>
                  <a:srgbClr val="1B1F24"/>
                </a:solidFill>
              </a:rPr>
              <a:t>COPY INTO CURATED and DQ</a:t>
            </a:r>
          </a:p>
          <a:p>
            <a:pPr marL="0" indent="0">
              <a:buNone/>
            </a:pPr>
            <a:r>
              <a:rPr sz="1300">
                <a:solidFill>
                  <a:srgbClr val="1B1F24"/>
                </a:solidFill>
              </a:rPr>
              <a:t>run SQL files 01 → 04</a:t>
            </a:r>
          </a:p>
        </p:txBody>
      </p:sp>
      <p:sp>
        <p:nvSpPr>
          <p:cNvPr id="19" name="Shape 2">
            <a:extLst>
              <a:ext uri="{FF2B5EF4-FFF2-40B4-BE49-F238E27FC236}">
                <a16:creationId xmlns:a16="http://schemas.microsoft.com/office/drawing/2014/main" id="{6DAEE0EF-A612-EDB5-8693-B894F74AA7BD}"/>
              </a:ext>
            </a:extLst>
          </p:cNvPr>
          <p:cNvSpPr>
            <a:spLocks noGrp="1"/>
          </p:cNvSpPr>
          <p:nvPr/>
        </p:nvSpPr>
        <p:spPr>
          <a:xfrm>
            <a:off x="3787089" y="3123893"/>
            <a:ext cx="365760" cy="0"/>
          </a:xfrm>
          <a:prstGeom prst="line">
            <a:avLst/>
          </a:prstGeom>
          <a:noFill/>
          <a:ln w="25400">
            <a:solidFill>
              <a:srgbClr val="1F77B4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1" name="Shape 2">
            <a:extLst>
              <a:ext uri="{FF2B5EF4-FFF2-40B4-BE49-F238E27FC236}">
                <a16:creationId xmlns:a16="http://schemas.microsoft.com/office/drawing/2014/main" id="{F6B5EE85-774E-94D9-261B-6ACE44343109}"/>
              </a:ext>
            </a:extLst>
          </p:cNvPr>
          <p:cNvSpPr>
            <a:spLocks noGrp="1"/>
          </p:cNvSpPr>
          <p:nvPr/>
        </p:nvSpPr>
        <p:spPr>
          <a:xfrm>
            <a:off x="5570169" y="3108960"/>
            <a:ext cx="365760" cy="0"/>
          </a:xfrm>
          <a:prstGeom prst="line">
            <a:avLst/>
          </a:prstGeom>
          <a:noFill/>
          <a:ln w="25400">
            <a:solidFill>
              <a:srgbClr val="1F77B4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3" name="Shape 2">
            <a:extLst>
              <a:ext uri="{FF2B5EF4-FFF2-40B4-BE49-F238E27FC236}">
                <a16:creationId xmlns:a16="http://schemas.microsoft.com/office/drawing/2014/main" id="{62EC9828-21A0-2454-2B78-5CA14CD0F5D6}"/>
              </a:ext>
            </a:extLst>
          </p:cNvPr>
          <p:cNvSpPr>
            <a:spLocks noGrp="1"/>
          </p:cNvSpPr>
          <p:nvPr/>
        </p:nvSpPr>
        <p:spPr>
          <a:xfrm>
            <a:off x="7353249" y="3103437"/>
            <a:ext cx="365760" cy="0"/>
          </a:xfrm>
          <a:prstGeom prst="line">
            <a:avLst/>
          </a:prstGeom>
          <a:noFill/>
          <a:ln w="25400">
            <a:solidFill>
              <a:srgbClr val="1F77B4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5" name="Shape 2">
            <a:extLst>
              <a:ext uri="{FF2B5EF4-FFF2-40B4-BE49-F238E27FC236}">
                <a16:creationId xmlns:a16="http://schemas.microsoft.com/office/drawing/2014/main" id="{5AD3AF16-F21B-92C9-DFF0-C1C9DF8EC51F}"/>
              </a:ext>
            </a:extLst>
          </p:cNvPr>
          <p:cNvSpPr>
            <a:spLocks noGrp="1"/>
          </p:cNvSpPr>
          <p:nvPr/>
        </p:nvSpPr>
        <p:spPr>
          <a:xfrm>
            <a:off x="9319209" y="3119189"/>
            <a:ext cx="365760" cy="0"/>
          </a:xfrm>
          <a:prstGeom prst="line">
            <a:avLst/>
          </a:prstGeom>
          <a:noFill/>
          <a:ln w="25400">
            <a:solidFill>
              <a:srgbClr val="1F77B4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97928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E91E6C7-2690-4E2A-9301-90FCC30B5782}"/>
              </a:ext>
            </a:extLst>
          </p:cNvPr>
          <p:cNvSpPr>
            <a:spLocks noGrp="1"/>
          </p:cNvSpPr>
          <p:nvPr/>
        </p:nvSpPr>
        <p:spPr>
          <a:xfrm>
            <a:off x="548640" y="292608"/>
            <a:ext cx="804672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700" b="1">
                <a:solidFill>
                  <a:srgbClr val="12395B"/>
                </a:solidFill>
                <a:latin typeface="Aptos Display"/>
                <a:ea typeface="Aptos Display"/>
                <a:cs typeface="Aptos Display"/>
              </a:rPr>
              <a:t>Why raw columns start as strings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8D0CEEB-99A6-41E9-99FB-A6303E454750}"/>
              </a:ext>
            </a:extLst>
          </p:cNvPr>
          <p:cNvSpPr>
            <a:spLocks noGrp="1"/>
          </p:cNvSpPr>
          <p:nvPr/>
        </p:nvSpPr>
        <p:spPr>
          <a:xfrm>
            <a:off x="566928" y="74980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>
                <a:solidFill>
                  <a:srgbClr val="5B6670"/>
                </a:solidFill>
              </a:rPr>
              <a:t>Raw CSV values stay intact until PySpark can clean, validate, and cast them to domain-appropriate types.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4FCD2A1-3EE1-4713-8819-327B159EDD5A}"/>
              </a:ext>
            </a:extLst>
          </p:cNvPr>
          <p:cNvSpPr>
            <a:spLocks noGrp="1"/>
          </p:cNvSpPr>
          <p:nvPr/>
        </p:nvSpPr>
        <p:spPr>
          <a:xfrm>
            <a:off x="685800" y="1280160"/>
            <a:ext cx="2926080" cy="320040"/>
          </a:xfrm>
          <a:prstGeom prst="rect">
            <a:avLst/>
          </a:prstGeom>
          <a:noFill/>
        </p:spPr>
        <p:txBody>
          <a:bodyPr wrap="square" lIns="635" tIns="635" rIns="635" bIns="635" anchor="t">
            <a:normAutofit fontScale="90690"/>
          </a:bodyPr>
          <a:lstStyle/>
          <a:p>
            <a:pPr marL="0" indent="0">
              <a:buNone/>
            </a:pPr>
            <a:r>
              <a:rPr sz="1800" b="1">
                <a:solidFill>
                  <a:srgbClr val="12395B"/>
                </a:solidFill>
              </a:rPr>
              <a:t>Why StringType at ingestion?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66D8455-F2E4-4480-903B-9344ED2997DC}"/>
              </a:ext>
            </a:extLst>
          </p:cNvPr>
          <p:cNvSpPr>
            <a:spLocks noGrp="1"/>
          </p:cNvSpPr>
          <p:nvPr/>
        </p:nvSpPr>
        <p:spPr>
          <a:xfrm>
            <a:off x="685800" y="1737360"/>
            <a:ext cx="3840480" cy="1005840"/>
          </a:xfrm>
          <a:prstGeom prst="rect">
            <a:avLst/>
          </a:prstGeom>
          <a:noFill/>
        </p:spPr>
        <p:txBody>
          <a:bodyPr wrap="square" lIns="635" tIns="635" rIns="635" bIns="635" anchor="t">
            <a:normAutofit fontScale="94452"/>
          </a:bodyPr>
          <a:lstStyle/>
          <a:p>
            <a:pPr marL="0" indent="0">
              <a:buNone/>
            </a:pPr>
            <a:r>
              <a:rPr sz="1500">
                <a:solidFill>
                  <a:srgbClr val="1B1F24"/>
                </a:solidFill>
              </a:rPr>
              <a:t>Mixed dates, booleans, currency symbols, decimal commas, and invalid IDs would become null too early under strict types. Text preserves each raw value until a rule can clean or reject it.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C94B613-615B-49F4-9A1B-1E8022C3C3E9}"/>
              </a:ext>
            </a:extLst>
          </p:cNvPr>
          <p:cNvSpPr>
            <a:spLocks noGrp="1"/>
          </p:cNvSpPr>
          <p:nvPr/>
        </p:nvSpPr>
        <p:spPr>
          <a:xfrm>
            <a:off x="5074920" y="1280160"/>
            <a:ext cx="3108960" cy="320040"/>
          </a:xfrm>
          <a:prstGeom prst="rect">
            <a:avLst/>
          </a:prstGeom>
          <a:noFill/>
        </p:spPr>
        <p:txBody>
          <a:bodyPr wrap="square" lIns="635" tIns="635" rIns="635" bIns="635" anchor="t">
            <a:normAutofit fontScale="94856"/>
          </a:bodyPr>
          <a:lstStyle/>
          <a:p>
            <a:pPr marL="0" indent="0">
              <a:buNone/>
            </a:pPr>
            <a:r>
              <a:rPr sz="1800" b="1">
                <a:solidFill>
                  <a:srgbClr val="12395B"/>
                </a:solidFill>
              </a:rPr>
              <a:t>Implemented cleaning helpers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ABF7E5C-7F06-46E4-BF26-E11BC4193982}"/>
              </a:ext>
            </a:extLst>
          </p:cNvPr>
          <p:cNvSpPr>
            <a:spLocks noGrp="1"/>
          </p:cNvSpPr>
          <p:nvPr/>
        </p:nvSpPr>
        <p:spPr>
          <a:xfrm>
            <a:off x="5074920" y="1737360"/>
            <a:ext cx="2468880" cy="2011680"/>
          </a:xfrm>
          <a:prstGeom prst="rect">
            <a:avLst/>
          </a:prstGeom>
          <a:noFill/>
        </p:spPr>
        <p:txBody>
          <a:bodyPr wrap="square" lIns="635" tIns="635" rIns="635" bIns="635" anchor="t">
            <a:normAutofit/>
          </a:bodyPr>
          <a:lstStyle/>
          <a:p>
            <a:pPr marL="0" indent="0">
              <a:buNone/>
            </a:pPr>
            <a:r>
              <a:rPr sz="1400">
                <a:solidFill>
                  <a:srgbClr val="1B1F24"/>
                </a:solidFill>
              </a:rPr>
              <a:t>clean_text()</a:t>
            </a:r>
          </a:p>
          <a:p>
            <a:pPr marL="0" indent="0">
              <a:buNone/>
            </a:pPr>
            <a:r>
              <a:rPr sz="1400">
                <a:solidFill>
                  <a:srgbClr val="1B1F24"/>
                </a:solidFill>
              </a:rPr>
              <a:t>parse_date()</a:t>
            </a:r>
          </a:p>
          <a:p>
            <a:pPr marL="0" indent="0">
              <a:buNone/>
            </a:pPr>
            <a:r>
              <a:rPr sz="1400">
                <a:solidFill>
                  <a:srgbClr val="1B1F24"/>
                </a:solidFill>
              </a:rPr>
              <a:t>parse_decimal()</a:t>
            </a:r>
          </a:p>
          <a:p>
            <a:pPr marL="0" indent="0">
              <a:buNone/>
            </a:pPr>
            <a:r>
              <a:rPr sz="1400">
                <a:solidFill>
                  <a:srgbClr val="1B1F24"/>
                </a:solidFill>
              </a:rPr>
              <a:t>parse_boolean()</a:t>
            </a:r>
          </a:p>
          <a:p>
            <a:pPr marL="0" indent="0">
              <a:buNone/>
            </a:pPr>
            <a:r>
              <a:rPr sz="1400">
                <a:solidFill>
                  <a:srgbClr val="1B1F24"/>
                </a:solidFill>
              </a:rPr>
              <a:t>email + phone regex rules</a:t>
            </a:r>
          </a:p>
          <a:p>
            <a:pPr marL="0" indent="0">
              <a:buNone/>
            </a:pPr>
            <a:r>
              <a:rPr sz="1400">
                <a:solidFill>
                  <a:srgbClr val="1B1F24"/>
                </a:solidFill>
              </a:rPr>
              <a:t>country + state mapping</a:t>
            </a:r>
          </a:p>
          <a:p>
            <a:pPr marL="0" indent="0">
              <a:buNone/>
            </a:pPr>
            <a:r>
              <a:rPr sz="1400">
                <a:solidFill>
                  <a:srgbClr val="1B1F24"/>
                </a:solidFill>
              </a:rPr>
              <a:t>dedupe + foreign-key checks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E7DDA0D-6FC9-4A18-A0E9-58E1104CAAC5}"/>
              </a:ext>
            </a:extLst>
          </p:cNvPr>
          <p:cNvSpPr>
            <a:spLocks noGrp="1"/>
          </p:cNvSpPr>
          <p:nvPr/>
        </p:nvSpPr>
        <p:spPr>
          <a:xfrm>
            <a:off x="8412480" y="1280160"/>
            <a:ext cx="1920240" cy="320040"/>
          </a:xfrm>
          <a:prstGeom prst="rect">
            <a:avLst/>
          </a:prstGeom>
          <a:noFill/>
        </p:spPr>
        <p:txBody>
          <a:bodyPr wrap="square" lIns="635" tIns="635" rIns="635" bIns="635" anchor="t">
            <a:normAutofit/>
          </a:bodyPr>
          <a:lstStyle/>
          <a:p>
            <a:pPr marL="0" indent="0">
              <a:buNone/>
            </a:pPr>
            <a:r>
              <a:rPr sz="1800" b="1">
                <a:solidFill>
                  <a:srgbClr val="12395B"/>
                </a:solidFill>
              </a:rPr>
              <a:t>Typed outputs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EF9E264E-C22F-47C6-B37F-D38CDF49BE69}"/>
              </a:ext>
            </a:extLst>
          </p:cNvPr>
          <p:cNvSpPr>
            <a:spLocks noGrp="1"/>
          </p:cNvSpPr>
          <p:nvPr/>
        </p:nvSpPr>
        <p:spPr>
          <a:xfrm>
            <a:off x="8412480" y="1737360"/>
            <a:ext cx="2560320" cy="1828800"/>
          </a:xfrm>
          <a:prstGeom prst="rect">
            <a:avLst/>
          </a:prstGeom>
          <a:noFill/>
        </p:spPr>
        <p:txBody>
          <a:bodyPr wrap="square" lIns="635" tIns="635" rIns="635" bIns="635" anchor="t">
            <a:normAutofit/>
          </a:bodyPr>
          <a:lstStyle/>
          <a:p>
            <a:pPr marL="0" indent="0">
              <a:buNone/>
            </a:pPr>
            <a:r>
              <a:rPr sz="1400">
                <a:solidFill>
                  <a:srgbClr val="1B1F24"/>
                </a:solidFill>
              </a:rPr>
              <a:t>IDs / counts → Integer</a:t>
            </a:r>
          </a:p>
          <a:p>
            <a:pPr marL="0" indent="0">
              <a:buNone/>
            </a:pPr>
            <a:r>
              <a:rPr sz="1400">
                <a:solidFill>
                  <a:srgbClr val="1B1F24"/>
                </a:solidFill>
              </a:rPr>
              <a:t>money / discounts → Decimal</a:t>
            </a:r>
          </a:p>
          <a:p>
            <a:pPr marL="0" indent="0">
              <a:buNone/>
            </a:pPr>
            <a:r>
              <a:rPr sz="1400">
                <a:solidFill>
                  <a:srgbClr val="1B1F24"/>
                </a:solidFill>
              </a:rPr>
              <a:t>dates → Date</a:t>
            </a:r>
          </a:p>
          <a:p>
            <a:pPr marL="0" indent="0">
              <a:buNone/>
            </a:pPr>
            <a:r>
              <a:rPr sz="1400">
                <a:solidFill>
                  <a:srgbClr val="1B1F24"/>
                </a:solidFill>
              </a:rPr>
              <a:t>is_active → Boolean</a:t>
            </a:r>
          </a:p>
          <a:p>
            <a:pPr marL="0" indent="0">
              <a:buNone/>
            </a:pPr>
            <a:r>
              <a:rPr sz="1400">
                <a:solidFill>
                  <a:srgbClr val="1B1F24"/>
                </a:solidFill>
              </a:rPr>
              <a:t>names / categories → String</a:t>
            </a:r>
          </a:p>
          <a:p>
            <a:pPr marL="0" indent="0">
              <a:buNone/>
            </a:pPr>
            <a:r>
              <a:rPr sz="1400">
                <a:solidFill>
                  <a:srgbClr val="1B1F24"/>
                </a:solidFill>
              </a:rPr>
              <a:t>invalid values → null or removed</a:t>
            </a:r>
          </a:p>
        </p:txBody>
      </p:sp>
    </p:spTree>
    <p:extLst>
      <p:ext uri="{BB962C8B-B14F-4D97-AF65-F5344CB8AC3E}">
        <p14:creationId xmlns:p14="http://schemas.microsoft.com/office/powerpoint/2010/main" val="2677101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D26B19B-B1E4-4885-99BA-823831DB7853}"/>
              </a:ext>
            </a:extLst>
          </p:cNvPr>
          <p:cNvSpPr>
            <a:spLocks noGrp="1"/>
          </p:cNvSpPr>
          <p:nvPr/>
        </p:nvSpPr>
        <p:spPr>
          <a:xfrm>
            <a:off x="548640" y="292608"/>
            <a:ext cx="804672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700" b="1">
                <a:solidFill>
                  <a:srgbClr val="12395B"/>
                </a:solidFill>
                <a:latin typeface="Aptos Display"/>
                <a:ea typeface="Aptos Display"/>
                <a:cs typeface="Aptos Display"/>
              </a:rPr>
              <a:t>Snowflake mirrors the PySpark-curated model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04E9368-7ADC-4EE5-83D8-8B0EF7E3DE72}"/>
              </a:ext>
            </a:extLst>
          </p:cNvPr>
          <p:cNvSpPr>
            <a:spLocks noGrp="1"/>
          </p:cNvSpPr>
          <p:nvPr/>
        </p:nvSpPr>
        <p:spPr>
          <a:xfrm>
            <a:off x="566928" y="74980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>
                <a:solidFill>
                  <a:srgbClr val="5B6670"/>
                </a:solidFill>
              </a:rPr>
              <a:t>Four CSV folders load through one external S3 stage into CURATED and DQ.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9EF8C93-A297-4B18-8D3F-2A6DF16CEEDC}"/>
              </a:ext>
            </a:extLst>
          </p:cNvPr>
          <p:cNvSpPr>
            <a:spLocks noGrp="1"/>
          </p:cNvSpPr>
          <p:nvPr/>
        </p:nvSpPr>
        <p:spPr>
          <a:xfrm>
            <a:off x="2686076" y="2438194"/>
            <a:ext cx="2297404" cy="0"/>
          </a:xfrm>
          <a:prstGeom prst="line">
            <a:avLst/>
          </a:prstGeom>
          <a:noFill/>
          <a:ln w="25400">
            <a:solidFill>
              <a:srgbClr val="1F77B4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9D6D637-967E-4AA9-BE6C-229D71DD9821}"/>
              </a:ext>
            </a:extLst>
          </p:cNvPr>
          <p:cNvSpPr>
            <a:spLocks noGrp="1"/>
          </p:cNvSpPr>
          <p:nvPr/>
        </p:nvSpPr>
        <p:spPr>
          <a:xfrm>
            <a:off x="7360920" y="3063240"/>
            <a:ext cx="0" cy="0"/>
          </a:xfrm>
          <a:prstGeom prst="line">
            <a:avLst/>
          </a:prstGeom>
          <a:noFill/>
          <a:ln w="25400">
            <a:solidFill>
              <a:srgbClr val="1F77B4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307F0A0-4596-4CBF-AE72-14D4453933B1}"/>
              </a:ext>
            </a:extLst>
          </p:cNvPr>
          <p:cNvSpPr>
            <a:spLocks noGrp="1"/>
          </p:cNvSpPr>
          <p:nvPr/>
        </p:nvSpPr>
        <p:spPr>
          <a:xfrm>
            <a:off x="647700" y="2043684"/>
            <a:ext cx="2057400" cy="777240"/>
          </a:xfrm>
          <a:prstGeom prst="roundRect">
            <a:avLst>
              <a:gd name="adj" fmla="val 9412"/>
            </a:avLst>
          </a:prstGeom>
          <a:solidFill>
            <a:srgbClr val="E4F3FF"/>
          </a:solidFill>
          <a:ln w="12700">
            <a:solidFill>
              <a:srgbClr val="D9E2EC"/>
            </a:solidFill>
          </a:ln>
        </p:spPr>
        <p:txBody>
          <a:bodyPr wrap="square" lIns="1016" tIns="1016" rIns="1016" bIns="1016" anchor="ctr"/>
          <a:lstStyle/>
          <a:p>
            <a:pPr marL="0" indent="0" algn="ctr">
              <a:buNone/>
            </a:pPr>
            <a:r>
              <a:rPr sz="1300" b="1">
                <a:solidFill>
                  <a:srgbClr val="12395B"/>
                </a:solidFill>
              </a:rPr>
              <a:t>DIM_CUSTOMERS</a:t>
            </a:r>
          </a:p>
          <a:p>
            <a:pPr marL="0" indent="0" algn="ctr">
              <a:buNone/>
            </a:pPr>
            <a:r>
              <a:rPr sz="1300" b="1">
                <a:solidFill>
                  <a:srgbClr val="12395B"/>
                </a:solidFill>
              </a:rPr>
              <a:t>20 validated rows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DD387D7-DA5C-4BCF-86F4-73E93ABA93BE}"/>
              </a:ext>
            </a:extLst>
          </p:cNvPr>
          <p:cNvSpPr>
            <a:spLocks noGrp="1"/>
          </p:cNvSpPr>
          <p:nvPr/>
        </p:nvSpPr>
        <p:spPr>
          <a:xfrm>
            <a:off x="4983480" y="2043683"/>
            <a:ext cx="2377440" cy="2196923"/>
          </a:xfrm>
          <a:prstGeom prst="roundRect">
            <a:avLst>
              <a:gd name="adj" fmla="val 9412"/>
            </a:avLst>
          </a:prstGeom>
          <a:solidFill>
            <a:srgbClr val="DFF4EA"/>
          </a:solidFill>
          <a:ln w="12700">
            <a:solidFill>
              <a:srgbClr val="D9E2EC"/>
            </a:solidFill>
          </a:ln>
        </p:spPr>
        <p:txBody>
          <a:bodyPr wrap="square" lIns="1016" tIns="1016" rIns="1016" bIns="1016" anchor="ctr"/>
          <a:lstStyle/>
          <a:p>
            <a:pPr marL="0" indent="0" algn="ctr">
              <a:buNone/>
            </a:pPr>
            <a:r>
              <a:rPr sz="1300" b="1">
                <a:solidFill>
                  <a:srgbClr val="12395B"/>
                </a:solidFill>
              </a:rPr>
              <a:t>FACT_ORDERS</a:t>
            </a:r>
          </a:p>
          <a:p>
            <a:pPr marL="0" indent="0" algn="ctr">
              <a:buNone/>
            </a:pPr>
            <a:r>
              <a:rPr sz="1300" b="1">
                <a:solidFill>
                  <a:srgbClr val="12395B"/>
                </a:solidFill>
              </a:rPr>
              <a:t>11 valid orders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A7236E2-BA1D-449C-88AB-0916F82C00D0}"/>
              </a:ext>
            </a:extLst>
          </p:cNvPr>
          <p:cNvSpPr>
            <a:spLocks noGrp="1"/>
          </p:cNvSpPr>
          <p:nvPr/>
        </p:nvSpPr>
        <p:spPr>
          <a:xfrm>
            <a:off x="647700" y="3558334"/>
            <a:ext cx="2057400" cy="777240"/>
          </a:xfrm>
          <a:prstGeom prst="roundRect">
            <a:avLst>
              <a:gd name="adj" fmla="val 9412"/>
            </a:avLst>
          </a:prstGeom>
          <a:solidFill>
            <a:srgbClr val="FFF4DD"/>
          </a:solidFill>
          <a:ln w="12700">
            <a:solidFill>
              <a:srgbClr val="D9E2EC"/>
            </a:solidFill>
          </a:ln>
        </p:spPr>
        <p:txBody>
          <a:bodyPr wrap="square" lIns="1016" tIns="1016" rIns="1016" bIns="1016" anchor="ctr"/>
          <a:lstStyle/>
          <a:p>
            <a:pPr marL="0" indent="0" algn="ctr">
              <a:buNone/>
            </a:pPr>
            <a:r>
              <a:rPr sz="1300" b="1">
                <a:solidFill>
                  <a:srgbClr val="12395B"/>
                </a:solidFill>
              </a:rPr>
              <a:t>DIM_PRODUCTS</a:t>
            </a:r>
          </a:p>
          <a:p>
            <a:pPr marL="0" indent="0" algn="ctr">
              <a:buNone/>
            </a:pPr>
            <a:r>
              <a:rPr sz="1300" b="1">
                <a:solidFill>
                  <a:srgbClr val="12395B"/>
                </a:solidFill>
              </a:rPr>
              <a:t>20 validated rows</a:t>
            </a: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D885820F-6149-4636-95C0-1DDC7C155B71}"/>
              </a:ext>
            </a:extLst>
          </p:cNvPr>
          <p:cNvSpPr>
            <a:spLocks noGrp="1"/>
          </p:cNvSpPr>
          <p:nvPr/>
        </p:nvSpPr>
        <p:spPr>
          <a:xfrm>
            <a:off x="2705100" y="3878836"/>
            <a:ext cx="2278380" cy="0"/>
          </a:xfrm>
          <a:prstGeom prst="line">
            <a:avLst/>
          </a:prstGeom>
          <a:noFill/>
          <a:ln w="25400">
            <a:solidFill>
              <a:srgbClr val="1F77B4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8E2B1261-9FBC-4B15-AE9A-2A05930FD378}"/>
              </a:ext>
            </a:extLst>
          </p:cNvPr>
          <p:cNvSpPr>
            <a:spLocks noGrp="1"/>
          </p:cNvSpPr>
          <p:nvPr/>
        </p:nvSpPr>
        <p:spPr>
          <a:xfrm>
            <a:off x="8046720" y="1554480"/>
            <a:ext cx="246888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txBody>
          <a:bodyPr wrap="square" lIns="1016" tIns="1016" rIns="1016" bIns="1016" anchor="ctr"/>
          <a:lstStyle/>
          <a:p>
            <a:pPr marL="0" indent="0" algn="ctr">
              <a:buNone/>
            </a:pPr>
            <a:r>
              <a:rPr sz="1200" b="1">
                <a:solidFill>
                  <a:srgbClr val="12395B"/>
                </a:solidFill>
              </a:rPr>
              <a:t>DQ.DQ_SUMMARY</a:t>
            </a: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3B664539-8892-4D5F-90FE-0710A753685C}"/>
              </a:ext>
            </a:extLst>
          </p:cNvPr>
          <p:cNvSpPr>
            <a:spLocks noGrp="1"/>
          </p:cNvSpPr>
          <p:nvPr/>
        </p:nvSpPr>
        <p:spPr>
          <a:xfrm>
            <a:off x="8046720" y="2761488"/>
            <a:ext cx="246888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txBody>
          <a:bodyPr wrap="square" lIns="1016" tIns="1016" rIns="1016" bIns="1016" anchor="ctr"/>
          <a:lstStyle/>
          <a:p>
            <a:pPr marL="0" indent="0" algn="ctr">
              <a:buNone/>
            </a:pPr>
            <a:r>
              <a:rPr sz="1200" b="1">
                <a:solidFill>
                  <a:srgbClr val="12395B"/>
                </a:solidFill>
              </a:rPr>
              <a:t>VALIDATION SQL
7 checks</a:t>
            </a: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3B5CB52-C3B7-40D7-9CB1-09B0DBF125C9}"/>
              </a:ext>
            </a:extLst>
          </p:cNvPr>
          <p:cNvSpPr>
            <a:spLocks noGrp="1"/>
          </p:cNvSpPr>
          <p:nvPr/>
        </p:nvSpPr>
        <p:spPr>
          <a:xfrm>
            <a:off x="8046720" y="3968496"/>
            <a:ext cx="246888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txBody>
          <a:bodyPr wrap="square" lIns="1016" tIns="1016" rIns="1016" bIns="1016" anchor="ctr"/>
          <a:lstStyle/>
          <a:p>
            <a:pPr marL="0" indent="0" algn="ctr">
              <a:buNone/>
            </a:pPr>
            <a:r>
              <a:rPr sz="1200" b="1">
                <a:solidFill>
                  <a:srgbClr val="12395B"/>
                </a:solidFill>
              </a:rPr>
              <a:t>ANALYTICS SQL
7 queries</a:t>
            </a: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4336B95E-396B-42DD-961A-8556775C1B7D}"/>
              </a:ext>
            </a:extLst>
          </p:cNvPr>
          <p:cNvSpPr>
            <a:spLocks noGrp="1"/>
          </p:cNvSpPr>
          <p:nvPr/>
        </p:nvSpPr>
        <p:spPr>
          <a:xfrm>
            <a:off x="822960" y="5577840"/>
            <a:ext cx="5029200" cy="320040"/>
          </a:xfrm>
          <a:prstGeom prst="rect">
            <a:avLst/>
          </a:prstGeom>
          <a:noFill/>
        </p:spPr>
        <p:txBody>
          <a:bodyPr wrap="square" lIns="635" tIns="635" rIns="635" bIns="635" anchor="t">
            <a:normAutofit fontScale="64383"/>
          </a:bodyPr>
          <a:lstStyle/>
          <a:p>
            <a:pPr marL="0" indent="0">
              <a:buNone/>
            </a:pPr>
            <a:r>
              <a:rPr sz="1700" b="1">
                <a:solidFill>
                  <a:srgbClr val="12395B"/>
                </a:solidFill>
              </a:rPr>
              <a:t>Snowflake schemas: RAW stage • CURATED dimensions/fact • DQ summary</a:t>
            </a: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5DC5EC52-804F-42DC-A205-DC153529919B}"/>
              </a:ext>
            </a:extLst>
          </p:cNvPr>
          <p:cNvSpPr>
            <a:spLocks noGrp="1"/>
          </p:cNvSpPr>
          <p:nvPr/>
        </p:nvSpPr>
        <p:spPr>
          <a:xfrm>
            <a:off x="822960" y="5989320"/>
            <a:ext cx="7680960" cy="320040"/>
          </a:xfrm>
          <a:prstGeom prst="rect">
            <a:avLst/>
          </a:prstGeom>
          <a:noFill/>
        </p:spPr>
        <p:txBody>
          <a:bodyPr wrap="square" lIns="635" tIns="635" rIns="635" bIns="635" anchor="t">
            <a:normAutofit/>
          </a:bodyPr>
          <a:lstStyle/>
          <a:p>
            <a:pPr marL="0" indent="0">
              <a:buNone/>
            </a:pPr>
            <a:r>
              <a:rPr sz="1400">
                <a:solidFill>
                  <a:srgbClr val="5B6670"/>
                </a:solidFill>
              </a:rPr>
              <a:t>01 DDL → 02 load → 03 validation → 04 analytics. The delivered SQL creates no MART tables.</a:t>
            </a:r>
          </a:p>
        </p:txBody>
      </p:sp>
    </p:spTree>
    <p:extLst>
      <p:ext uri="{BB962C8B-B14F-4D97-AF65-F5344CB8AC3E}">
        <p14:creationId xmlns:p14="http://schemas.microsoft.com/office/powerpoint/2010/main" val="4497715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7073B65-9491-4EC3-A798-1E14A6DD412F}"/>
              </a:ext>
            </a:extLst>
          </p:cNvPr>
          <p:cNvSpPr>
            <a:spLocks noGrp="1"/>
          </p:cNvSpPr>
          <p:nvPr/>
        </p:nvSpPr>
        <p:spPr>
          <a:xfrm>
            <a:off x="548640" y="292608"/>
            <a:ext cx="804672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700" b="1">
                <a:solidFill>
                  <a:srgbClr val="12395B"/>
                </a:solidFill>
                <a:latin typeface="Aptos Display"/>
                <a:ea typeface="Aptos Display"/>
                <a:cs typeface="Aptos Display"/>
              </a:rPr>
              <a:t>51 curated rows feed seven Snowflake checks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52509E7-817A-4B34-BF73-A6FA269E7673}"/>
              </a:ext>
            </a:extLst>
          </p:cNvPr>
          <p:cNvSpPr>
            <a:spLocks noGrp="1"/>
          </p:cNvSpPr>
          <p:nvPr/>
        </p:nvSpPr>
        <p:spPr>
          <a:xfrm>
            <a:off x="566928" y="74980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>
                <a:solidFill>
                  <a:srgbClr val="5B6670"/>
                </a:solidFill>
              </a:rPr>
              <a:t>DQ_SUMMARY carries each source-to-target count into Snowflake so COPY results can be tested instead of assumed.</a:t>
            </a:r>
          </a:p>
        </p:txBody>
      </p:sp>
      <p:graphicFrame>
        <p:nvGraphicFramePr>
          <p:cNvPr id="11" name="Chart 0"/>
          <p:cNvGraphicFramePr/>
          <p:nvPr/>
        </p:nvGraphicFramePr>
        <p:xfrm>
          <a:off x="777240" y="1234440"/>
          <a:ext cx="5760720" cy="397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>
            <a:extLst>
              <a:ext uri="{FF2B5EF4-FFF2-40B4-BE49-F238E27FC236}">
                <a16:creationId xmlns:a16="http://schemas.microsoft.com/office/drawing/2014/main" id="{608CF250-D6B1-4BAC-A36C-70F1ECD06FDD}"/>
              </a:ext>
            </a:extLst>
          </p:cNvPr>
          <p:cNvSpPr>
            <a:spLocks noGrp="1"/>
          </p:cNvSpPr>
          <p:nvPr/>
        </p:nvSpPr>
        <p:spPr>
          <a:xfrm>
            <a:off x="6995160" y="1325880"/>
            <a:ext cx="3200400" cy="320040"/>
          </a:xfrm>
          <a:prstGeom prst="rect">
            <a:avLst/>
          </a:prstGeom>
          <a:noFill/>
        </p:spPr>
        <p:txBody>
          <a:bodyPr wrap="square" lIns="635" tIns="635" rIns="635" bIns="635" anchor="t">
            <a:normAutofit/>
          </a:bodyPr>
          <a:lstStyle/>
          <a:p>
            <a:pPr marL="0" indent="0">
              <a:buNone/>
            </a:pPr>
            <a:r>
              <a:rPr sz="1800" b="1">
                <a:solidFill>
                  <a:srgbClr val="12395B"/>
                </a:solidFill>
              </a:rPr>
              <a:t>Snowflake validation gates</a:t>
            </a: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FAD14808-39A3-4525-92B3-D8D0316E304F}"/>
              </a:ext>
            </a:extLst>
          </p:cNvPr>
          <p:cNvSpPr>
            <a:spLocks noGrp="1"/>
          </p:cNvSpPr>
          <p:nvPr/>
        </p:nvSpPr>
        <p:spPr>
          <a:xfrm>
            <a:off x="6995160" y="1828800"/>
            <a:ext cx="3657600" cy="1828800"/>
          </a:xfrm>
          <a:prstGeom prst="rect">
            <a:avLst/>
          </a:prstGeom>
          <a:noFill/>
        </p:spPr>
        <p:txBody>
          <a:bodyPr wrap="square" lIns="635" tIns="635" rIns="635" bIns="635" anchor="t">
            <a:normAutofit/>
          </a:bodyPr>
          <a:lstStyle/>
          <a:p>
            <a:pPr marL="0" indent="0">
              <a:buNone/>
            </a:pPr>
            <a:r>
              <a:rPr sz="1500">
                <a:solidFill>
                  <a:srgbClr val="1B1F24"/>
                </a:solidFill>
              </a:rPr>
              <a:t>• PySpark target vs Snowflake count</a:t>
            </a:r>
          </a:p>
          <a:p>
            <a:pPr marL="0" indent="0">
              <a:buNone/>
            </a:pPr>
            <a:r>
              <a:rPr sz="1500">
                <a:solidFill>
                  <a:srgbClr val="1B1F24"/>
                </a:solidFill>
              </a:rPr>
              <a:t>• No orphan customer keys</a:t>
            </a:r>
          </a:p>
          <a:p>
            <a:pPr marL="0" indent="0">
              <a:buNone/>
            </a:pPr>
            <a:r>
              <a:rPr sz="1500">
                <a:solidFill>
                  <a:srgbClr val="1B1F24"/>
                </a:solidFill>
              </a:rPr>
              <a:t>• No orphan product keys</a:t>
            </a:r>
          </a:p>
          <a:p>
            <a:pPr marL="0" indent="0">
              <a:buNone/>
            </a:pPr>
            <a:r>
              <a:rPr sz="1500">
                <a:solidFill>
                  <a:srgbClr val="1B1F24"/>
                </a:solidFill>
              </a:rPr>
              <a:t>• No invalid business values</a:t>
            </a:r>
          </a:p>
          <a:p>
            <a:pPr marL="0" indent="0">
              <a:buNone/>
            </a:pPr>
            <a:r>
              <a:rPr sz="1500">
                <a:solidFill>
                  <a:srgbClr val="1B1F24"/>
                </a:solidFill>
              </a:rPr>
              <a:t>• No duplicate order IDs</a:t>
            </a:r>
          </a:p>
          <a:p>
            <a:pPr marL="0" indent="0">
              <a:buNone/>
            </a:pPr>
            <a:r>
              <a:rPr sz="1500">
                <a:solidFill>
                  <a:srgbClr val="1B1F24"/>
                </a:solidFill>
              </a:rPr>
              <a:t>• Recalculated order totals = PASS</a:t>
            </a: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6E37E33C-CFA4-464E-B772-A73EBC93B4CE}"/>
              </a:ext>
            </a:extLst>
          </p:cNvPr>
          <p:cNvSpPr>
            <a:spLocks noGrp="1"/>
          </p:cNvSpPr>
          <p:nvPr/>
        </p:nvSpPr>
        <p:spPr>
          <a:xfrm>
            <a:off x="7132320" y="4480560"/>
            <a:ext cx="3154680" cy="822960"/>
          </a:xfrm>
          <a:prstGeom prst="roundRect">
            <a:avLst>
              <a:gd name="adj" fmla="val 8889"/>
            </a:avLst>
          </a:prstGeom>
          <a:solidFill>
            <a:srgbClr val="DFF4EA"/>
          </a:solidFill>
          <a:ln w="12700">
            <a:solidFill>
              <a:srgbClr val="D9E2EC"/>
            </a:solidFill>
          </a:ln>
        </p:spPr>
        <p:txBody>
          <a:bodyPr wrap="square" lIns="1016" tIns="1016" rIns="1016" bIns="1016" anchor="ctr"/>
          <a:lstStyle/>
          <a:p>
            <a:pPr marL="0" indent="0" algn="ctr">
              <a:buNone/>
            </a:pPr>
            <a:r>
              <a:rPr sz="1500" b="1">
                <a:solidFill>
                  <a:srgbClr val="12395B"/>
                </a:solidFill>
              </a:rPr>
              <a:t>PySpark result</a:t>
            </a:r>
          </a:p>
          <a:p>
            <a:pPr marL="0" indent="0" algn="ctr">
              <a:buNone/>
            </a:pPr>
            <a:r>
              <a:rPr sz="1500" b="1">
                <a:solidFill>
                  <a:srgbClr val="12395B"/>
                </a:solidFill>
              </a:rPr>
              <a:t>20 customers • 20 products • 11 orders</a:t>
            </a:r>
          </a:p>
        </p:txBody>
      </p:sp>
    </p:spTree>
    <p:extLst>
      <p:ext uri="{BB962C8B-B14F-4D97-AF65-F5344CB8AC3E}">
        <p14:creationId xmlns:p14="http://schemas.microsoft.com/office/powerpoint/2010/main" val="15114533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9CF8830-4698-4C46-ADC8-39113D4C6FDC}"/>
              </a:ext>
            </a:extLst>
          </p:cNvPr>
          <p:cNvSpPr>
            <a:spLocks noGrp="1"/>
          </p:cNvSpPr>
          <p:nvPr/>
        </p:nvSpPr>
        <p:spPr>
          <a:xfrm>
            <a:off x="548640" y="292608"/>
            <a:ext cx="804672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700" b="1">
                <a:solidFill>
                  <a:srgbClr val="12395B"/>
                </a:solidFill>
                <a:latin typeface="Aptos Display"/>
                <a:ea typeface="Aptos Display"/>
                <a:cs typeface="Aptos Display"/>
              </a:rPr>
              <a:t>EMR completed; Snowflake is the final handoff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D744A1A-DBFA-4061-B47D-91305E74308A}"/>
              </a:ext>
            </a:extLst>
          </p:cNvPr>
          <p:cNvSpPr>
            <a:spLocks noGrp="1"/>
          </p:cNvSpPr>
          <p:nvPr/>
        </p:nvSpPr>
        <p:spPr>
          <a:xfrm>
            <a:off x="566928" y="74980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>
                <a:solidFill>
                  <a:srgbClr val="5B6670"/>
                </a:solidFill>
              </a:rPr>
              <a:t>PySpark finished successfully and wrote five Iceberg tables plus four Snowflake-ready CSV folders to S3.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C5B5BDD-D8E5-4034-A60C-05B6548D825B}"/>
              </a:ext>
            </a:extLst>
          </p:cNvPr>
          <p:cNvSpPr>
            <a:spLocks noGrp="1"/>
          </p:cNvSpPr>
          <p:nvPr/>
        </p:nvSpPr>
        <p:spPr>
          <a:xfrm>
            <a:off x="2796284" y="1580868"/>
            <a:ext cx="2194560" cy="320040"/>
          </a:xfrm>
          <a:prstGeom prst="rect">
            <a:avLst/>
          </a:prstGeom>
          <a:noFill/>
        </p:spPr>
        <p:txBody>
          <a:bodyPr wrap="square" lIns="635" tIns="635" rIns="635" bIns="635" anchor="t">
            <a:normAutofit/>
          </a:bodyPr>
          <a:lstStyle/>
          <a:p>
            <a:pPr marL="0" indent="0">
              <a:buNone/>
            </a:pPr>
            <a:r>
              <a:rPr sz="1800" b="1">
                <a:solidFill>
                  <a:srgbClr val="12395B"/>
                </a:solidFill>
              </a:rPr>
              <a:t>Confirmed in S3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BE36AA1-9AFF-4B68-9F92-3480891B8CC6}"/>
              </a:ext>
            </a:extLst>
          </p:cNvPr>
          <p:cNvSpPr>
            <a:spLocks noGrp="1"/>
          </p:cNvSpPr>
          <p:nvPr/>
        </p:nvSpPr>
        <p:spPr>
          <a:xfrm>
            <a:off x="2796284" y="2038068"/>
            <a:ext cx="3474720" cy="2057400"/>
          </a:xfrm>
          <a:prstGeom prst="rect">
            <a:avLst/>
          </a:prstGeom>
          <a:noFill/>
        </p:spPr>
        <p:txBody>
          <a:bodyPr wrap="square" lIns="635" tIns="635" rIns="635" bIns="635" anchor="t">
            <a:normAutofit/>
          </a:bodyPr>
          <a:lstStyle/>
          <a:p>
            <a:pPr marL="0" indent="0">
              <a:buNone/>
            </a:pPr>
            <a:r>
              <a:rPr sz="1500">
                <a:solidFill>
                  <a:srgbClr val="1B1F24"/>
                </a:solidFill>
              </a:rPr>
              <a:t>• /snowflake_stage/dim_customers/</a:t>
            </a:r>
          </a:p>
          <a:p>
            <a:pPr marL="0" indent="0">
              <a:buNone/>
            </a:pPr>
            <a:r>
              <a:rPr sz="1500">
                <a:solidFill>
                  <a:srgbClr val="1B1F24"/>
                </a:solidFill>
              </a:rPr>
              <a:t>• /snowflake_stage/dim_products/</a:t>
            </a:r>
          </a:p>
          <a:p>
            <a:pPr marL="0" indent="0">
              <a:buNone/>
            </a:pPr>
            <a:r>
              <a:rPr sz="1500">
                <a:solidFill>
                  <a:srgbClr val="1B1F24"/>
                </a:solidFill>
              </a:rPr>
              <a:t>• /snowflake_stage/fact_orders/</a:t>
            </a:r>
          </a:p>
          <a:p>
            <a:pPr marL="0" indent="0">
              <a:buNone/>
            </a:pPr>
            <a:r>
              <a:rPr sz="1500">
                <a:solidFill>
                  <a:srgbClr val="1B1F24"/>
                </a:solidFill>
              </a:rPr>
              <a:t>• /snowflake_stage/dq_summary/</a:t>
            </a:r>
          </a:p>
          <a:p>
            <a:pPr marL="0" indent="0">
              <a:buNone/>
            </a:pPr>
            <a:r>
              <a:rPr sz="1500">
                <a:solidFill>
                  <a:srgbClr val="1B1F24"/>
                </a:solidFill>
              </a:rPr>
              <a:t>• CSV data files + _SUCCESS markers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B576D4B-7A78-4267-A3A6-1E58586EC855}"/>
              </a:ext>
            </a:extLst>
          </p:cNvPr>
          <p:cNvSpPr>
            <a:spLocks noGrp="1"/>
          </p:cNvSpPr>
          <p:nvPr/>
        </p:nvSpPr>
        <p:spPr>
          <a:xfrm>
            <a:off x="7178040" y="1580868"/>
            <a:ext cx="2560320" cy="320040"/>
          </a:xfrm>
          <a:prstGeom prst="rect">
            <a:avLst/>
          </a:prstGeom>
          <a:noFill/>
        </p:spPr>
        <p:txBody>
          <a:bodyPr wrap="square" lIns="635" tIns="635" rIns="635" bIns="635" anchor="t">
            <a:normAutofit/>
          </a:bodyPr>
          <a:lstStyle/>
          <a:p>
            <a:pPr marL="0" indent="0">
              <a:buNone/>
            </a:pPr>
            <a:r>
              <a:rPr sz="1800" b="1">
                <a:solidFill>
                  <a:srgbClr val="12395B"/>
                </a:solidFill>
              </a:rPr>
              <a:t>Run next in Snowflake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ECB8DED-7541-4E48-855C-B012787CB0CE}"/>
              </a:ext>
            </a:extLst>
          </p:cNvPr>
          <p:cNvSpPr>
            <a:spLocks noGrp="1"/>
          </p:cNvSpPr>
          <p:nvPr/>
        </p:nvSpPr>
        <p:spPr>
          <a:xfrm>
            <a:off x="7178040" y="2038068"/>
            <a:ext cx="2834640" cy="1645920"/>
          </a:xfrm>
          <a:prstGeom prst="rect">
            <a:avLst/>
          </a:prstGeom>
          <a:noFill/>
        </p:spPr>
        <p:txBody>
          <a:bodyPr wrap="square" lIns="635" tIns="635" rIns="635" bIns="635" anchor="t">
            <a:normAutofit fontScale="89931"/>
          </a:bodyPr>
          <a:lstStyle/>
          <a:p>
            <a:pPr marL="0" indent="0">
              <a:buNone/>
            </a:pPr>
            <a:r>
              <a:rPr sz="1500">
                <a:solidFill>
                  <a:srgbClr val="1B1F24"/>
                </a:solidFill>
              </a:rPr>
              <a:t>1  01_snowflake_ddl.sql
2  02_snowflake_load.sql
3  03_validation_queries.sql
4  04_analytics_queries.sql
Expected tables: 20 customers, 20 products, 11 orders, plus DQ summary.</a:t>
            </a:r>
          </a:p>
        </p:txBody>
      </p:sp>
    </p:spTree>
    <p:extLst>
      <p:ext uri="{BB962C8B-B14F-4D97-AF65-F5344CB8AC3E}">
        <p14:creationId xmlns:p14="http://schemas.microsoft.com/office/powerpoint/2010/main" val="11160368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756</Words>
  <Application>Microsoft Office PowerPoint</Application>
  <DocSecurity>0</DocSecurity>
  <PresentationFormat>Widescreen</PresentationFormat>
  <Paragraphs>125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Aptos</vt:lpstr>
      <vt:lpstr>Aptos Display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Yesgat, Duchyas</cp:lastModifiedBy>
  <cp:revision>3</cp:revision>
  <dcterms:created xsi:type="dcterms:W3CDTF">2026-07-24T05:58:28Z</dcterms:created>
  <dcterms:modified xsi:type="dcterms:W3CDTF">2026-07-27T00:31:42Z</dcterms:modified>
</cp:coreProperties>
</file>