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268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</c:v>
                </c:pt>
              </c:strCache>
            </c:strRef>
          </c:tx>
          <c:spPr>
            <a:solidFill>
              <a:srgbClr val="2A7FB8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Customers</c:v>
                </c:pt>
                <c:pt idx="1">
                  <c:v>Products</c:v>
                </c:pt>
                <c:pt idx="2">
                  <c:v>Orders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22</c:v>
                </c:pt>
                <c:pt idx="2">
                  <c:v>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ED3-4A46-8F1D-8246B87747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Curated</c:v>
                </c:pt>
              </c:strCache>
            </c:strRef>
          </c:tx>
          <c:spPr>
            <a:solidFill>
              <a:srgbClr val="2F855A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Customers</c:v>
                </c:pt>
                <c:pt idx="1">
                  <c:v>Products</c:v>
                </c:pt>
                <c:pt idx="2">
                  <c:v>Orders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ED3-4A46-8F1D-8246B87747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0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legend>
      <c:legendPos val="r"/>
      <c:overlay val="0"/>
    </c:legend>
    <c:plotVisOnly val="1"/>
    <c:dispBlanksAs val="zero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</c:v>
                </c:pt>
              </c:strCache>
            </c:strRef>
          </c:tx>
          <c:spPr>
            <a:solidFill>
              <a:srgbClr val="2A7FB8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Customers</c:v>
                </c:pt>
                <c:pt idx="1">
                  <c:v>Products</c:v>
                </c:pt>
                <c:pt idx="2">
                  <c:v>Orders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22</c:v>
                </c:pt>
                <c:pt idx="2">
                  <c:v>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48F-41F2-BB47-52EE734250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Curated</c:v>
                </c:pt>
              </c:strCache>
            </c:strRef>
          </c:tx>
          <c:spPr>
            <a:solidFill>
              <a:srgbClr val="2F855A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Customers</c:v>
                </c:pt>
                <c:pt idx="1">
                  <c:v>Products</c:v>
                </c:pt>
                <c:pt idx="2">
                  <c:v>Orders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48F-41F2-BB47-52EE734250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0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legend>
      <c:legendPos val="r"/>
      <c:overlay val="0"/>
    </c:legend>
    <c:plotVisOnly val="1"/>
    <c:dispBlanksAs val="zero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0544E9-1220-44A5-82D9-8D65FD5D72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2395B"/>
          </a:solidFill>
          <a:ln w="12700">
            <a:solidFill>
              <a:srgbClr val="1239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129316-FACB-495E-BBD8-1F4E1D859002}"/>
              </a:ext>
            </a:extLst>
          </p:cNvPr>
          <p:cNvSpPr>
            <a:spLocks noGrp="1"/>
          </p:cNvSpPr>
          <p:nvPr/>
        </p:nvSpPr>
        <p:spPr>
          <a:xfrm>
            <a:off x="640080" y="8229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 b="1" dirty="0">
                <a:solidFill>
                  <a:srgbClr val="1F77B4"/>
                </a:solidFill>
              </a:rPr>
              <a:t>Project </a:t>
            </a:r>
            <a:r>
              <a:rPr lang="en-US" sz="1800" b="1" dirty="0">
                <a:solidFill>
                  <a:srgbClr val="1F77B4"/>
                </a:solidFill>
              </a:rPr>
              <a:t>2</a:t>
            </a:r>
            <a:endParaRPr sz="1800" b="1" dirty="0">
              <a:solidFill>
                <a:srgbClr val="1F77B4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BC780F-04AA-4B2B-BADD-8AF2708C4F35}"/>
              </a:ext>
            </a:extLst>
          </p:cNvPr>
          <p:cNvSpPr>
            <a:spLocks noGrp="1"/>
          </p:cNvSpPr>
          <p:nvPr/>
        </p:nvSpPr>
        <p:spPr>
          <a:xfrm>
            <a:off x="640080" y="1325880"/>
            <a:ext cx="685800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500" b="1" dirty="0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Retail Data Engineering Pipeline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E41299-C0C9-4C72-A8B3-7B99D22C4C43}"/>
              </a:ext>
            </a:extLst>
          </p:cNvPr>
          <p:cNvSpPr>
            <a:spLocks noGrp="1"/>
          </p:cNvSpPr>
          <p:nvPr/>
        </p:nvSpPr>
        <p:spPr>
          <a:xfrm>
            <a:off x="658368" y="2084832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>
                <a:solidFill>
                  <a:srgbClr val="5B6670"/>
                </a:solidFill>
              </a:rPr>
              <a:t>PySpark on EMR / Amazon S3 / Glue + Iceberg / Snowflake SQL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9F5D3D7-0AA6-4B0C-B1EB-950CC00931F4}"/>
              </a:ext>
            </a:extLst>
          </p:cNvPr>
          <p:cNvSpPr>
            <a:spLocks noGrp="1"/>
          </p:cNvSpPr>
          <p:nvPr/>
        </p:nvSpPr>
        <p:spPr>
          <a:xfrm>
            <a:off x="4832604" y="3136392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S3 Raw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CSV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B0CE14-3AF7-4642-BDBB-B38AC398D969}"/>
              </a:ext>
            </a:extLst>
          </p:cNvPr>
          <p:cNvSpPr>
            <a:spLocks noGrp="1"/>
          </p:cNvSpPr>
          <p:nvPr/>
        </p:nvSpPr>
        <p:spPr>
          <a:xfrm>
            <a:off x="6991059" y="3154680"/>
            <a:ext cx="1234440" cy="868680"/>
          </a:xfrm>
          <a:prstGeom prst="roundRect">
            <a:avLst>
              <a:gd name="adj" fmla="val 8421"/>
            </a:avLst>
          </a:prstGeom>
          <a:solidFill>
            <a:srgbClr val="E4F3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PySpark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EMR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1DD5A3-05A6-4C1F-8067-15268A031233}"/>
              </a:ext>
            </a:extLst>
          </p:cNvPr>
          <p:cNvSpPr>
            <a:spLocks noGrp="1"/>
          </p:cNvSpPr>
          <p:nvPr/>
        </p:nvSpPr>
        <p:spPr>
          <a:xfrm>
            <a:off x="9314602" y="31546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DFF4EA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Glue +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Iceberg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1DF168E-F523-42DA-B139-1C9803E75F10}"/>
              </a:ext>
            </a:extLst>
          </p:cNvPr>
          <p:cNvSpPr>
            <a:spLocks noGrp="1"/>
          </p:cNvSpPr>
          <p:nvPr/>
        </p:nvSpPr>
        <p:spPr>
          <a:xfrm>
            <a:off x="9124516" y="452628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FFF4DD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Snowflake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SQL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208B91A-5B2C-4CE0-9C92-67BC18DF8065}"/>
              </a:ext>
            </a:extLst>
          </p:cNvPr>
          <p:cNvSpPr>
            <a:spLocks noGrp="1"/>
          </p:cNvSpPr>
          <p:nvPr/>
        </p:nvSpPr>
        <p:spPr>
          <a:xfrm>
            <a:off x="10035540" y="4023360"/>
            <a:ext cx="0" cy="502920"/>
          </a:xfrm>
          <a:prstGeom prst="line">
            <a:avLst/>
          </a:prstGeom>
          <a:noFill/>
          <a:ln w="25400">
            <a:solidFill>
              <a:srgbClr val="F2B84B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401BB09-F603-47D6-943F-088254959C6C}"/>
              </a:ext>
            </a:extLst>
          </p:cNvPr>
          <p:cNvSpPr>
            <a:spLocks noGrp="1"/>
          </p:cNvSpPr>
          <p:nvPr/>
        </p:nvSpPr>
        <p:spPr>
          <a:xfrm>
            <a:off x="658368" y="2980944"/>
            <a:ext cx="1901952" cy="310896"/>
          </a:xfrm>
          <a:prstGeom prst="roundRect">
            <a:avLst>
              <a:gd name="adj" fmla="val 17647"/>
            </a:avLst>
          </a:prstGeom>
          <a:solidFill>
            <a:srgbClr val="2E7D59"/>
          </a:solidFill>
          <a:ln>
            <a:solidFill>
              <a:srgbClr val="2E7D59"/>
            </a:solidFill>
          </a:ln>
        </p:spPr>
        <p:txBody>
          <a:bodyPr wrap="square" lIns="508" tIns="508" rIns="508" bIns="508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68 Raw Rows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8A2A0A-7A77-49D8-87E2-CA305885C55F}"/>
              </a:ext>
            </a:extLst>
          </p:cNvPr>
          <p:cNvSpPr>
            <a:spLocks noGrp="1"/>
          </p:cNvSpPr>
          <p:nvPr/>
        </p:nvSpPr>
        <p:spPr>
          <a:xfrm>
            <a:off x="658368" y="3419856"/>
            <a:ext cx="1901952" cy="310896"/>
          </a:xfrm>
          <a:prstGeom prst="roundRect">
            <a:avLst>
              <a:gd name="adj" fmla="val 17647"/>
            </a:avLst>
          </a:prstGeom>
          <a:solidFill>
            <a:srgbClr val="1F77B4"/>
          </a:solidFill>
          <a:ln>
            <a:solidFill>
              <a:srgbClr val="1F77B4"/>
            </a:solidFill>
          </a:ln>
        </p:spPr>
        <p:txBody>
          <a:bodyPr wrap="square" lIns="508" tIns="508" rIns="508" bIns="508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</a:rPr>
              <a:t>51 Curated Rows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E713AAC-B281-450B-8069-EE909AA9C679}"/>
              </a:ext>
            </a:extLst>
          </p:cNvPr>
          <p:cNvSpPr>
            <a:spLocks noGrp="1"/>
          </p:cNvSpPr>
          <p:nvPr/>
        </p:nvSpPr>
        <p:spPr>
          <a:xfrm>
            <a:off x="658368" y="3858768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F2B84B"/>
          </a:solidFill>
          <a:ln>
            <a:solidFill>
              <a:srgbClr val="F2B84B"/>
            </a:solidFill>
          </a:ln>
        </p:spPr>
        <p:txBody>
          <a:bodyPr wrap="square" lIns="508" tIns="508" rIns="508" bIns="508" anchor="ctr"/>
          <a:lstStyle/>
          <a:p>
            <a:pPr marL="0" indent="0" algn="ctr">
              <a:buNone/>
            </a:pPr>
            <a:r>
              <a:rPr sz="1200" b="1">
                <a:solidFill>
                  <a:srgbClr val="1B1F24"/>
                </a:solidFill>
              </a:rPr>
              <a:t>7 Analytics Queries</a:t>
            </a: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76B4AA0C-5A2E-123B-DD5B-DACA2E51FC04}"/>
              </a:ext>
            </a:extLst>
          </p:cNvPr>
          <p:cNvSpPr>
            <a:spLocks noGrp="1"/>
          </p:cNvSpPr>
          <p:nvPr/>
        </p:nvSpPr>
        <p:spPr>
          <a:xfrm>
            <a:off x="5884164" y="3570732"/>
            <a:ext cx="1106895" cy="0"/>
          </a:xfrm>
          <a:prstGeom prst="line">
            <a:avLst/>
          </a:prstGeom>
          <a:noFill/>
          <a:ln w="27940">
            <a:solidFill>
              <a:srgbClr val="1F77B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96B4802-B9C7-809F-8991-251FBA1068EF}"/>
              </a:ext>
            </a:extLst>
          </p:cNvPr>
          <p:cNvSpPr>
            <a:spLocks noGrp="1"/>
          </p:cNvSpPr>
          <p:nvPr/>
        </p:nvSpPr>
        <p:spPr>
          <a:xfrm>
            <a:off x="8207707" y="3570732"/>
            <a:ext cx="1106895" cy="0"/>
          </a:xfrm>
          <a:prstGeom prst="line">
            <a:avLst/>
          </a:prstGeom>
          <a:noFill/>
          <a:ln w="27940">
            <a:solidFill>
              <a:srgbClr val="1F77B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06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6F546F-FF8E-4289-BDC8-215C2A6F1C18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Three CSVs become trusted warehouse tables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0F71C2-DF23-430F-BC51-8C1CA45488E6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PySpark cleans the retail data once, preserves it in Iceberg, and publishes Snowflake-ready CSV.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B7534A5-A879-41EB-ABDA-4425D634BE14}"/>
              </a:ext>
            </a:extLst>
          </p:cNvPr>
          <p:cNvSpPr>
            <a:spLocks noGrp="1"/>
          </p:cNvSpPr>
          <p:nvPr/>
        </p:nvSpPr>
        <p:spPr>
          <a:xfrm>
            <a:off x="685800" y="1234440"/>
            <a:ext cx="201168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700" b="1">
                <a:solidFill>
                  <a:srgbClr val="12395B"/>
                </a:solidFill>
              </a:rPr>
              <a:t>Raw input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1436850-146C-4F4F-88E3-D227B9E8EDC1}"/>
              </a:ext>
            </a:extLst>
          </p:cNvPr>
          <p:cNvSpPr>
            <a:spLocks noGrp="1"/>
          </p:cNvSpPr>
          <p:nvPr/>
        </p:nvSpPr>
        <p:spPr>
          <a:xfrm>
            <a:off x="685800" y="1627632"/>
            <a:ext cx="3108960" cy="11887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68 rows across customers, products, and orders contain mixed dates and booleans, malformed IDs, currency symbols, duplicates, invalid keys, and impossible values.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F0B91C-0F34-4481-9394-D696004344AC}"/>
              </a:ext>
            </a:extLst>
          </p:cNvPr>
          <p:cNvSpPr>
            <a:spLocks noGrp="1"/>
          </p:cNvSpPr>
          <p:nvPr/>
        </p:nvSpPr>
        <p:spPr>
          <a:xfrm>
            <a:off x="4251960" y="1234440"/>
            <a:ext cx="201168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700" b="1">
                <a:solidFill>
                  <a:srgbClr val="12395B"/>
                </a:solidFill>
              </a:rPr>
              <a:t>Processing goal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1C2BBB7-7EE4-44AA-9E36-E896829C2B44}"/>
              </a:ext>
            </a:extLst>
          </p:cNvPr>
          <p:cNvSpPr>
            <a:spLocks noGrp="1"/>
          </p:cNvSpPr>
          <p:nvPr/>
        </p:nvSpPr>
        <p:spPr>
          <a:xfrm>
            <a:off x="4251960" y="1627632"/>
            <a:ext cx="3108960" cy="11887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Run on EMR, read raw data permissively, clean and cast by domain, validate referential integrity, then write Iceberg tables and Snowflake exports.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AFAE7B-CA52-4AC3-8D46-368F7861C574}"/>
              </a:ext>
            </a:extLst>
          </p:cNvPr>
          <p:cNvSpPr>
            <a:spLocks noGrp="1"/>
          </p:cNvSpPr>
          <p:nvPr/>
        </p:nvSpPr>
        <p:spPr>
          <a:xfrm>
            <a:off x="7818120" y="1234440"/>
            <a:ext cx="201168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700" b="1">
                <a:solidFill>
                  <a:srgbClr val="12395B"/>
                </a:solidFill>
              </a:rPr>
              <a:t>SQL handoff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3F91F-B693-492B-8B16-C0982781DAB0}"/>
              </a:ext>
            </a:extLst>
          </p:cNvPr>
          <p:cNvSpPr>
            <a:spLocks noGrp="1"/>
          </p:cNvSpPr>
          <p:nvPr/>
        </p:nvSpPr>
        <p:spPr>
          <a:xfrm>
            <a:off x="7818120" y="1627632"/>
            <a:ext cx="3108960" cy="11887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One PySpark pipeline plus four ordered Snowflake scripts: DDL, load, seven validation checks, and seven analytics queries.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1FA7BC0-707E-4480-B24F-7E8E5B264119}"/>
              </a:ext>
            </a:extLst>
          </p:cNvPr>
          <p:cNvSpPr>
            <a:spLocks noGrp="1"/>
          </p:cNvSpPr>
          <p:nvPr/>
        </p:nvSpPr>
        <p:spPr>
          <a:xfrm>
            <a:off x="731520" y="37947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3</a:t>
            </a:r>
          </a:p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Source CSVs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65280C2-B6D9-432E-92DF-4CDC42EC28DA}"/>
              </a:ext>
            </a:extLst>
          </p:cNvPr>
          <p:cNvSpPr>
            <a:spLocks noGrp="1"/>
          </p:cNvSpPr>
          <p:nvPr/>
        </p:nvSpPr>
        <p:spPr>
          <a:xfrm>
            <a:off x="3611880" y="37947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5</a:t>
            </a:r>
          </a:p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Iceberg tables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A95CEAC-655E-40F3-B949-B7FF7F7E8756}"/>
              </a:ext>
            </a:extLst>
          </p:cNvPr>
          <p:cNvSpPr>
            <a:spLocks noGrp="1"/>
          </p:cNvSpPr>
          <p:nvPr/>
        </p:nvSpPr>
        <p:spPr>
          <a:xfrm>
            <a:off x="6492240" y="37947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4</a:t>
            </a:r>
          </a:p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Snowflake tables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DDECEB4-7B8B-4BA2-BC6D-E725C8C7A0C9}"/>
              </a:ext>
            </a:extLst>
          </p:cNvPr>
          <p:cNvSpPr>
            <a:spLocks noGrp="1"/>
          </p:cNvSpPr>
          <p:nvPr/>
        </p:nvSpPr>
        <p:spPr>
          <a:xfrm>
            <a:off x="9372600" y="37947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7</a:t>
            </a:r>
          </a:p>
          <a:p>
            <a:pPr marL="0" indent="0" algn="ctr">
              <a:buNone/>
            </a:pPr>
            <a:r>
              <a:rPr sz="2000" b="1">
                <a:solidFill>
                  <a:srgbClr val="12395B"/>
                </a:solidFill>
              </a:rPr>
              <a:t>Analytics queries</a:t>
            </a:r>
          </a:p>
        </p:txBody>
      </p:sp>
    </p:spTree>
    <p:extLst>
      <p:ext uri="{BB962C8B-B14F-4D97-AF65-F5344CB8AC3E}">
        <p14:creationId xmlns:p14="http://schemas.microsoft.com/office/powerpoint/2010/main" val="773774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2E07BB7-636B-4118-8070-A90BE6F363D3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Order validation removes most of the bad rows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A516E1A-BE37-4D02-8C75-74BFAA502958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Customers and products retain 20 of 22 rows; orders retain 11 of 24 after business and foreign-key checks.</a:t>
            </a:r>
          </a:p>
        </p:txBody>
      </p:sp>
      <p:graphicFrame>
        <p:nvGraphicFramePr>
          <p:cNvPr id="13" name="Chart 0"/>
          <p:cNvGraphicFramePr/>
          <p:nvPr/>
        </p:nvGraphicFramePr>
        <p:xfrm>
          <a:off x="685800" y="123444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7F610434-4F55-41FE-86BB-0E695E6B1BA3}"/>
              </a:ext>
            </a:extLst>
          </p:cNvPr>
          <p:cNvSpPr>
            <a:spLocks noGrp="1"/>
          </p:cNvSpPr>
          <p:nvPr/>
        </p:nvSpPr>
        <p:spPr>
          <a:xfrm>
            <a:off x="6720840" y="1261872"/>
            <a:ext cx="274320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7723"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Rules that drive the result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F3F881F-80CD-4D51-AE3B-A7521D4F7E00}"/>
              </a:ext>
            </a:extLst>
          </p:cNvPr>
          <p:cNvSpPr>
            <a:spLocks noGrp="1"/>
          </p:cNvSpPr>
          <p:nvPr/>
        </p:nvSpPr>
        <p:spPr>
          <a:xfrm>
            <a:off x="6720840" y="1783080"/>
            <a:ext cx="4206240" cy="21031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Numeric customer and order IDs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Product IDs must match P####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Quantity must be 1–100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Unit price must be positive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Discount must be 0–100%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Ship date cannot precede order date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Customer and product keys must exist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30405-53C8-4C08-93A0-E3619CF21DF9}"/>
              </a:ext>
            </a:extLst>
          </p:cNvPr>
          <p:cNvSpPr>
            <a:spLocks noGrp="1"/>
          </p:cNvSpPr>
          <p:nvPr/>
        </p:nvSpPr>
        <p:spPr>
          <a:xfrm>
            <a:off x="6858000" y="4572000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Raw rows</a:t>
            </a:r>
          </a:p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68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2237A3-8CE5-4D4E-844E-26B73EB32A6C}"/>
              </a:ext>
            </a:extLst>
          </p:cNvPr>
          <p:cNvSpPr>
            <a:spLocks noGrp="1"/>
          </p:cNvSpPr>
          <p:nvPr/>
        </p:nvSpPr>
        <p:spPr>
          <a:xfrm>
            <a:off x="8595360" y="457200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DFF4EA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Curated rows</a:t>
            </a:r>
          </a:p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51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91CC936-F0E9-4F6E-A8E6-D884E24B4767}"/>
              </a:ext>
            </a:extLst>
          </p:cNvPr>
          <p:cNvSpPr>
            <a:spLocks noGrp="1"/>
          </p:cNvSpPr>
          <p:nvPr/>
        </p:nvSpPr>
        <p:spPr>
          <a:xfrm>
            <a:off x="10332720" y="457200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Removed</a:t>
            </a:r>
          </a:p>
          <a:p>
            <a:pPr marL="0" indent="0" algn="ctr">
              <a:buNone/>
            </a:pPr>
            <a:r>
              <a:rPr sz="1600" b="1">
                <a:solidFill>
                  <a:srgbClr val="12395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6522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AE4DA6-0904-48AB-823A-85DDF5410CDA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The pipeline ran end to end on EMR and S3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0C39AE-7ACE-4160-B30E-CA5D79FB1116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One S3 bucket separates raw files, the Iceberg warehouse, and Snowflake-ready exports.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5037471-1B8B-4224-A958-E6CF5911DDC6}"/>
              </a:ext>
            </a:extLst>
          </p:cNvPr>
          <p:cNvSpPr>
            <a:spLocks noGrp="1"/>
          </p:cNvSpPr>
          <p:nvPr/>
        </p:nvSpPr>
        <p:spPr>
          <a:xfrm>
            <a:off x="2095450" y="3108960"/>
            <a:ext cx="36576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0368A0-ECD1-4081-B354-678EECE9D6C8}"/>
              </a:ext>
            </a:extLst>
          </p:cNvPr>
          <p:cNvSpPr>
            <a:spLocks noGrp="1"/>
          </p:cNvSpPr>
          <p:nvPr/>
        </p:nvSpPr>
        <p:spPr>
          <a:xfrm>
            <a:off x="815289" y="2749644"/>
            <a:ext cx="1280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S3 Raw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CSV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2CC2C60-D113-4FFB-B419-5701B121E5D0}"/>
              </a:ext>
            </a:extLst>
          </p:cNvPr>
          <p:cNvSpPr>
            <a:spLocks noGrp="1"/>
          </p:cNvSpPr>
          <p:nvPr/>
        </p:nvSpPr>
        <p:spPr>
          <a:xfrm>
            <a:off x="2461209" y="2749644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E4F3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PySpark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on EMR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C8BCC8-E720-49B1-B3AA-A3AEBAB19E15}"/>
              </a:ext>
            </a:extLst>
          </p:cNvPr>
          <p:cNvSpPr>
            <a:spLocks noGrp="1"/>
          </p:cNvSpPr>
          <p:nvPr/>
        </p:nvSpPr>
        <p:spPr>
          <a:xfrm>
            <a:off x="4152849" y="2749644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DFF4EA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Clean +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Validate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183CC11-59D0-467D-A990-5E2E1B4DEB11}"/>
              </a:ext>
            </a:extLst>
          </p:cNvPr>
          <p:cNvSpPr>
            <a:spLocks noGrp="1"/>
          </p:cNvSpPr>
          <p:nvPr/>
        </p:nvSpPr>
        <p:spPr>
          <a:xfrm>
            <a:off x="5935929" y="2749644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FFF4DD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Glue +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Iceberg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E4ACCD6-A6FF-4AA7-A95E-35F6787CC65E}"/>
              </a:ext>
            </a:extLst>
          </p:cNvPr>
          <p:cNvSpPr>
            <a:spLocks noGrp="1"/>
          </p:cNvSpPr>
          <p:nvPr/>
        </p:nvSpPr>
        <p:spPr>
          <a:xfrm>
            <a:off x="7719009" y="2749644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CE8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S3 CSV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Export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E21DF22-462E-4BC5-B734-3E9276681870}"/>
              </a:ext>
            </a:extLst>
          </p:cNvPr>
          <p:cNvSpPr>
            <a:spLocks noGrp="1"/>
          </p:cNvSpPr>
          <p:nvPr/>
        </p:nvSpPr>
        <p:spPr>
          <a:xfrm>
            <a:off x="9684969" y="2749644"/>
            <a:ext cx="1280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Snowflake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SQL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8238745-9803-4DC5-86FB-44CA4D842731}"/>
              </a:ext>
            </a:extLst>
          </p:cNvPr>
          <p:cNvSpPr>
            <a:spLocks noGrp="1"/>
          </p:cNvSpPr>
          <p:nvPr/>
        </p:nvSpPr>
        <p:spPr>
          <a:xfrm>
            <a:off x="960120" y="4736592"/>
            <a:ext cx="182880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rgbClr val="12395B"/>
                </a:solidFill>
              </a:rPr>
              <a:t>Raw landing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6029EF-67D4-4169-B016-1526F8AF0C3C}"/>
              </a:ext>
            </a:extLst>
          </p:cNvPr>
          <p:cNvSpPr>
            <a:spLocks noGrp="1"/>
          </p:cNvSpPr>
          <p:nvPr/>
        </p:nvSpPr>
        <p:spPr>
          <a:xfrm>
            <a:off x="960120" y="5074920"/>
            <a:ext cx="2834640" cy="8229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yesgat-020529563157-us-east-2-an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3 raw CSVs • 68 rows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customers • products • orders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93C72E7-ADCE-41A5-9489-EAD4155A54E4}"/>
              </a:ext>
            </a:extLst>
          </p:cNvPr>
          <p:cNvSpPr>
            <a:spLocks noGrp="1"/>
          </p:cNvSpPr>
          <p:nvPr/>
        </p:nvSpPr>
        <p:spPr>
          <a:xfrm>
            <a:off x="4754880" y="4736592"/>
            <a:ext cx="182880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rgbClr val="12395B"/>
                </a:solidFill>
              </a:rPr>
              <a:t>EMR + Iceberg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6D30DF8-D5C7-47BC-8FEB-DDE000BD5F42}"/>
              </a:ext>
            </a:extLst>
          </p:cNvPr>
          <p:cNvSpPr>
            <a:spLocks noGrp="1"/>
          </p:cNvSpPr>
          <p:nvPr/>
        </p:nvSpPr>
        <p:spPr>
          <a:xfrm>
            <a:off x="4754880" y="5074920"/>
            <a:ext cx="2926080" cy="8229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Spark 4.0.2-amzn-0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AWS Glue catalog + S3FileIO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warehouse folder: /iceberg/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DA0B2FE-E57A-49DC-A1C7-9D8B0C92DDF7}"/>
              </a:ext>
            </a:extLst>
          </p:cNvPr>
          <p:cNvSpPr>
            <a:spLocks noGrp="1"/>
          </p:cNvSpPr>
          <p:nvPr/>
        </p:nvSpPr>
        <p:spPr>
          <a:xfrm>
            <a:off x="8458200" y="4736592"/>
            <a:ext cx="182880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rgbClr val="12395B"/>
                </a:solidFill>
              </a:rPr>
              <a:t>Snowflake handoff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467340A-ABD3-4465-B20B-D39BFAAB4EFE}"/>
              </a:ext>
            </a:extLst>
          </p:cNvPr>
          <p:cNvSpPr>
            <a:spLocks noGrp="1"/>
          </p:cNvSpPr>
          <p:nvPr/>
        </p:nvSpPr>
        <p:spPr>
          <a:xfrm>
            <a:off x="8458200" y="5074920"/>
            <a:ext cx="2926080" cy="8229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external stage: /snowflake_stage/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COPY INTO CURATED and DQ</a:t>
            </a:r>
          </a:p>
          <a:p>
            <a:pPr marL="0" indent="0">
              <a:buNone/>
            </a:pPr>
            <a:r>
              <a:rPr sz="1300">
                <a:solidFill>
                  <a:srgbClr val="1B1F24"/>
                </a:solidFill>
              </a:rPr>
              <a:t>run SQL files 01 → 04</a:t>
            </a:r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6DAEE0EF-A612-EDB5-8693-B894F74AA7BD}"/>
              </a:ext>
            </a:extLst>
          </p:cNvPr>
          <p:cNvSpPr>
            <a:spLocks noGrp="1"/>
          </p:cNvSpPr>
          <p:nvPr/>
        </p:nvSpPr>
        <p:spPr>
          <a:xfrm>
            <a:off x="3787089" y="3123893"/>
            <a:ext cx="36576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F6B5EE85-774E-94D9-261B-6ACE44343109}"/>
              </a:ext>
            </a:extLst>
          </p:cNvPr>
          <p:cNvSpPr>
            <a:spLocks noGrp="1"/>
          </p:cNvSpPr>
          <p:nvPr/>
        </p:nvSpPr>
        <p:spPr>
          <a:xfrm>
            <a:off x="5570169" y="3108960"/>
            <a:ext cx="36576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62EC9828-21A0-2454-2B78-5CA14CD0F5D6}"/>
              </a:ext>
            </a:extLst>
          </p:cNvPr>
          <p:cNvSpPr>
            <a:spLocks noGrp="1"/>
          </p:cNvSpPr>
          <p:nvPr/>
        </p:nvSpPr>
        <p:spPr>
          <a:xfrm>
            <a:off x="7353249" y="3103437"/>
            <a:ext cx="36576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5AD3AF16-F21B-92C9-DFF0-C1C9DF8EC51F}"/>
              </a:ext>
            </a:extLst>
          </p:cNvPr>
          <p:cNvSpPr>
            <a:spLocks noGrp="1"/>
          </p:cNvSpPr>
          <p:nvPr/>
        </p:nvSpPr>
        <p:spPr>
          <a:xfrm>
            <a:off x="9319209" y="3119189"/>
            <a:ext cx="36576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9792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E91E6C7-2690-4E2A-9301-90FCC30B5782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Why raw columns start as strings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D0CEEB-99A6-41E9-99FB-A6303E454750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Raw CSV values stay intact until PySpark can clean, validate, and cast them to domain-appropriate types.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4FCD2A1-3EE1-4713-8819-327B159EDD5A}"/>
              </a:ext>
            </a:extLst>
          </p:cNvPr>
          <p:cNvSpPr>
            <a:spLocks noGrp="1"/>
          </p:cNvSpPr>
          <p:nvPr/>
        </p:nvSpPr>
        <p:spPr>
          <a:xfrm>
            <a:off x="685800" y="1280160"/>
            <a:ext cx="292608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690"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Why StringType at ingestion?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6D8455-F2E4-4480-903B-9344ED2997DC}"/>
              </a:ext>
            </a:extLst>
          </p:cNvPr>
          <p:cNvSpPr>
            <a:spLocks noGrp="1"/>
          </p:cNvSpPr>
          <p:nvPr/>
        </p:nvSpPr>
        <p:spPr>
          <a:xfrm>
            <a:off x="685800" y="1737360"/>
            <a:ext cx="3840480" cy="10058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452"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Mixed dates, booleans, currency symbols, decimal commas, and invalid IDs would become null too early under strict types. Text preserves each raw value until a rule can clean or reject it.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C94B613-615B-49F4-9A1B-1E8022C3C3E9}"/>
              </a:ext>
            </a:extLst>
          </p:cNvPr>
          <p:cNvSpPr>
            <a:spLocks noGrp="1"/>
          </p:cNvSpPr>
          <p:nvPr/>
        </p:nvSpPr>
        <p:spPr>
          <a:xfrm>
            <a:off x="5074920" y="1280160"/>
            <a:ext cx="310896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856"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Implemented cleaning helpers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ABF7E5C-7F06-46E4-BF26-E11BC4193982}"/>
              </a:ext>
            </a:extLst>
          </p:cNvPr>
          <p:cNvSpPr>
            <a:spLocks noGrp="1"/>
          </p:cNvSpPr>
          <p:nvPr/>
        </p:nvSpPr>
        <p:spPr>
          <a:xfrm>
            <a:off x="5074920" y="1737360"/>
            <a:ext cx="2468880" cy="20116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clean_text()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parse_date()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parse_decimal()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parse_boolean()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email + phone regex rules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country + state mapping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dedupe + foreign-key checks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E7DDA0D-6FC9-4A18-A0E9-58E1104CAAC5}"/>
              </a:ext>
            </a:extLst>
          </p:cNvPr>
          <p:cNvSpPr>
            <a:spLocks noGrp="1"/>
          </p:cNvSpPr>
          <p:nvPr/>
        </p:nvSpPr>
        <p:spPr>
          <a:xfrm>
            <a:off x="8412480" y="1280160"/>
            <a:ext cx="192024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Typed outputs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E264E-C22F-47C6-B37F-D38CDF49BE69}"/>
              </a:ext>
            </a:extLst>
          </p:cNvPr>
          <p:cNvSpPr>
            <a:spLocks noGrp="1"/>
          </p:cNvSpPr>
          <p:nvPr/>
        </p:nvSpPr>
        <p:spPr>
          <a:xfrm>
            <a:off x="8412480" y="1737360"/>
            <a:ext cx="2560320" cy="18288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IDs / counts → Integer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money / discounts → Decimal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dates → Date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is_active → Boolean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names / categories → String</a:t>
            </a:r>
          </a:p>
          <a:p>
            <a:pPr marL="0" indent="0">
              <a:buNone/>
            </a:pPr>
            <a:r>
              <a:rPr sz="1400">
                <a:solidFill>
                  <a:srgbClr val="1B1F24"/>
                </a:solidFill>
              </a:rPr>
              <a:t>invalid values → null or removed</a:t>
            </a:r>
          </a:p>
        </p:txBody>
      </p:sp>
    </p:spTree>
    <p:extLst>
      <p:ext uri="{BB962C8B-B14F-4D97-AF65-F5344CB8AC3E}">
        <p14:creationId xmlns:p14="http://schemas.microsoft.com/office/powerpoint/2010/main" val="267710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26B19B-B1E4-4885-99BA-823831DB7853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Snowflake mirrors the PySpark-curated model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04E9368-7ADC-4EE5-83D8-8B0EF7E3DE72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Four CSV folders load through one external S3 stage into CURATED and DQ.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EF8C93-A297-4B18-8D3F-2A6DF16CEEDC}"/>
              </a:ext>
            </a:extLst>
          </p:cNvPr>
          <p:cNvSpPr>
            <a:spLocks noGrp="1"/>
          </p:cNvSpPr>
          <p:nvPr/>
        </p:nvSpPr>
        <p:spPr>
          <a:xfrm>
            <a:off x="2686076" y="2438194"/>
            <a:ext cx="2297404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D6D637-967E-4AA9-BE6C-229D71DD9821}"/>
              </a:ext>
            </a:extLst>
          </p:cNvPr>
          <p:cNvSpPr>
            <a:spLocks noGrp="1"/>
          </p:cNvSpPr>
          <p:nvPr/>
        </p:nvSpPr>
        <p:spPr>
          <a:xfrm>
            <a:off x="7360920" y="3063240"/>
            <a:ext cx="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07F0A0-4596-4CBF-AE72-14D4453933B1}"/>
              </a:ext>
            </a:extLst>
          </p:cNvPr>
          <p:cNvSpPr>
            <a:spLocks noGrp="1"/>
          </p:cNvSpPr>
          <p:nvPr/>
        </p:nvSpPr>
        <p:spPr>
          <a:xfrm>
            <a:off x="647700" y="2043684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E4F3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DIM_CUSTOMERS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20 validated rows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DD387D7-DA5C-4BCF-86F4-73E93ABA93BE}"/>
              </a:ext>
            </a:extLst>
          </p:cNvPr>
          <p:cNvSpPr>
            <a:spLocks noGrp="1"/>
          </p:cNvSpPr>
          <p:nvPr/>
        </p:nvSpPr>
        <p:spPr>
          <a:xfrm>
            <a:off x="4983480" y="2043683"/>
            <a:ext cx="2377440" cy="2196923"/>
          </a:xfrm>
          <a:prstGeom prst="roundRect">
            <a:avLst>
              <a:gd name="adj" fmla="val 9412"/>
            </a:avLst>
          </a:prstGeom>
          <a:solidFill>
            <a:srgbClr val="DFF4EA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FACT_ORDERS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11 valid orders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A7236E2-BA1D-449C-88AB-0916F82C00D0}"/>
              </a:ext>
            </a:extLst>
          </p:cNvPr>
          <p:cNvSpPr>
            <a:spLocks noGrp="1"/>
          </p:cNvSpPr>
          <p:nvPr/>
        </p:nvSpPr>
        <p:spPr>
          <a:xfrm>
            <a:off x="647700" y="3558334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FFF4DD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DIM_PRODUCTS</a:t>
            </a:r>
          </a:p>
          <a:p>
            <a:pPr marL="0" indent="0" algn="ctr">
              <a:buNone/>
            </a:pPr>
            <a:r>
              <a:rPr sz="1300" b="1">
                <a:solidFill>
                  <a:srgbClr val="12395B"/>
                </a:solidFill>
              </a:rPr>
              <a:t>20 validated rows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885820F-6149-4636-95C0-1DDC7C155B71}"/>
              </a:ext>
            </a:extLst>
          </p:cNvPr>
          <p:cNvSpPr>
            <a:spLocks noGrp="1"/>
          </p:cNvSpPr>
          <p:nvPr/>
        </p:nvSpPr>
        <p:spPr>
          <a:xfrm>
            <a:off x="2705100" y="3878836"/>
            <a:ext cx="2278380" cy="0"/>
          </a:xfrm>
          <a:prstGeom prst="line">
            <a:avLst/>
          </a:prstGeom>
          <a:noFill/>
          <a:ln w="25400">
            <a:solidFill>
              <a:srgbClr val="1F77B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E2B1261-9FBC-4B15-AE9A-2A05930FD378}"/>
              </a:ext>
            </a:extLst>
          </p:cNvPr>
          <p:cNvSpPr>
            <a:spLocks noGrp="1"/>
          </p:cNvSpPr>
          <p:nvPr/>
        </p:nvSpPr>
        <p:spPr>
          <a:xfrm>
            <a:off x="8046720" y="1554480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200" b="1">
                <a:solidFill>
                  <a:srgbClr val="12395B"/>
                </a:solidFill>
              </a:rPr>
              <a:t>DQ.DQ_SUMMARY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B664539-8892-4D5F-90FE-0710A753685C}"/>
              </a:ext>
            </a:extLst>
          </p:cNvPr>
          <p:cNvSpPr>
            <a:spLocks noGrp="1"/>
          </p:cNvSpPr>
          <p:nvPr/>
        </p:nvSpPr>
        <p:spPr>
          <a:xfrm>
            <a:off x="8046720" y="2761488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200" b="1">
                <a:solidFill>
                  <a:srgbClr val="12395B"/>
                </a:solidFill>
              </a:rPr>
              <a:t>VALIDATION SQL
7 checks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B5CB52-C3B7-40D7-9CB1-09B0DBF125C9}"/>
              </a:ext>
            </a:extLst>
          </p:cNvPr>
          <p:cNvSpPr>
            <a:spLocks noGrp="1"/>
          </p:cNvSpPr>
          <p:nvPr/>
        </p:nvSpPr>
        <p:spPr>
          <a:xfrm>
            <a:off x="8046720" y="3968496"/>
            <a:ext cx="2468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200" b="1">
                <a:solidFill>
                  <a:srgbClr val="12395B"/>
                </a:solidFill>
              </a:rPr>
              <a:t>ANALYTICS SQL
7 queries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36B95E-396B-42DD-961A-8556775C1B7D}"/>
              </a:ext>
            </a:extLst>
          </p:cNvPr>
          <p:cNvSpPr>
            <a:spLocks noGrp="1"/>
          </p:cNvSpPr>
          <p:nvPr/>
        </p:nvSpPr>
        <p:spPr>
          <a:xfrm>
            <a:off x="822960" y="5577840"/>
            <a:ext cx="502920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64383"/>
          </a:bodyPr>
          <a:lstStyle/>
          <a:p>
            <a:pPr marL="0" indent="0">
              <a:buNone/>
            </a:pPr>
            <a:r>
              <a:rPr sz="1700" b="1">
                <a:solidFill>
                  <a:srgbClr val="12395B"/>
                </a:solidFill>
              </a:rPr>
              <a:t>Snowflake schemas: RAW stage • CURATED dimensions/fact • DQ summary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DC5EC52-804F-42DC-A205-DC153529919B}"/>
              </a:ext>
            </a:extLst>
          </p:cNvPr>
          <p:cNvSpPr>
            <a:spLocks noGrp="1"/>
          </p:cNvSpPr>
          <p:nvPr/>
        </p:nvSpPr>
        <p:spPr>
          <a:xfrm>
            <a:off x="822960" y="5989320"/>
            <a:ext cx="768096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5B6670"/>
                </a:solidFill>
              </a:rPr>
              <a:t>01 DDL → 02 load → 03 validation → 04 analytics. The delivered SQL creates no MART tables.</a:t>
            </a:r>
          </a:p>
        </p:txBody>
      </p:sp>
    </p:spTree>
    <p:extLst>
      <p:ext uri="{BB962C8B-B14F-4D97-AF65-F5344CB8AC3E}">
        <p14:creationId xmlns:p14="http://schemas.microsoft.com/office/powerpoint/2010/main" val="449771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073B65-9491-4EC3-A798-1E14A6DD412F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51 curated rows feed seven Snowflake checks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2509E7-817A-4B34-BF73-A6FA269E7673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DQ_SUMMARY carries each source-to-target count into Snowflake so COPY results can be tested instead of assumed.</a:t>
            </a:r>
          </a:p>
        </p:txBody>
      </p:sp>
      <p:graphicFrame>
        <p:nvGraphicFramePr>
          <p:cNvPr id="11" name="Chart 0"/>
          <p:cNvGraphicFramePr/>
          <p:nvPr/>
        </p:nvGraphicFramePr>
        <p:xfrm>
          <a:off x="777240" y="1234440"/>
          <a:ext cx="576072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608CF250-D6B1-4BAC-A36C-70F1ECD06FDD}"/>
              </a:ext>
            </a:extLst>
          </p:cNvPr>
          <p:cNvSpPr>
            <a:spLocks noGrp="1"/>
          </p:cNvSpPr>
          <p:nvPr/>
        </p:nvSpPr>
        <p:spPr>
          <a:xfrm>
            <a:off x="6995160" y="1325880"/>
            <a:ext cx="320040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Snowflake validation gates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AD14808-39A3-4525-92B3-D8D0316E304F}"/>
              </a:ext>
            </a:extLst>
          </p:cNvPr>
          <p:cNvSpPr>
            <a:spLocks noGrp="1"/>
          </p:cNvSpPr>
          <p:nvPr/>
        </p:nvSpPr>
        <p:spPr>
          <a:xfrm>
            <a:off x="6995160" y="1828800"/>
            <a:ext cx="3657600" cy="18288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PySpark target vs Snowflake count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No orphan customer keys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No orphan product keys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No invalid business values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No duplicate order IDs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Recalculated order totals = PASS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E37E33C-CFA4-464E-B772-A73EBC93B4CE}"/>
              </a:ext>
            </a:extLst>
          </p:cNvPr>
          <p:cNvSpPr>
            <a:spLocks noGrp="1"/>
          </p:cNvSpPr>
          <p:nvPr/>
        </p:nvSpPr>
        <p:spPr>
          <a:xfrm>
            <a:off x="7132320" y="4480560"/>
            <a:ext cx="3154680" cy="822960"/>
          </a:xfrm>
          <a:prstGeom prst="roundRect">
            <a:avLst>
              <a:gd name="adj" fmla="val 8889"/>
            </a:avLst>
          </a:prstGeom>
          <a:solidFill>
            <a:srgbClr val="DFF4EA"/>
          </a:solidFill>
          <a:ln w="12700">
            <a:solidFill>
              <a:srgbClr val="D9E2EC"/>
            </a:solidFill>
          </a:ln>
        </p:spPr>
        <p:txBody>
          <a:bodyPr wrap="square" lIns="1016" tIns="1016" rIns="1016" bIns="1016" anchor="ctr"/>
          <a:lstStyle/>
          <a:p>
            <a:pPr marL="0" indent="0" algn="ctr">
              <a:buNone/>
            </a:pPr>
            <a:r>
              <a:rPr sz="1500" b="1">
                <a:solidFill>
                  <a:srgbClr val="12395B"/>
                </a:solidFill>
              </a:rPr>
              <a:t>PySpark result</a:t>
            </a:r>
          </a:p>
          <a:p>
            <a:pPr marL="0" indent="0" algn="ctr">
              <a:buNone/>
            </a:pPr>
            <a:r>
              <a:rPr sz="1500" b="1">
                <a:solidFill>
                  <a:srgbClr val="12395B"/>
                </a:solidFill>
              </a:rPr>
              <a:t>20 customers • 20 products • 11 orders</a:t>
            </a:r>
          </a:p>
        </p:txBody>
      </p:sp>
    </p:spTree>
    <p:extLst>
      <p:ext uri="{BB962C8B-B14F-4D97-AF65-F5344CB8AC3E}">
        <p14:creationId xmlns:p14="http://schemas.microsoft.com/office/powerpoint/2010/main" val="151145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CF8830-4698-4C46-ADC8-39113D4C6FDC}"/>
              </a:ext>
            </a:extLst>
          </p:cNvPr>
          <p:cNvSpPr>
            <a:spLocks noGrp="1"/>
          </p:cNvSpPr>
          <p:nvPr/>
        </p:nvSpPr>
        <p:spPr>
          <a:xfrm>
            <a:off x="548640" y="292608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700" b="1">
                <a:solidFill>
                  <a:srgbClr val="12395B"/>
                </a:solidFill>
                <a:latin typeface="Aptos Display"/>
                <a:ea typeface="Aptos Display"/>
                <a:cs typeface="Aptos Display"/>
              </a:rPr>
              <a:t>EMR completed; Snowflake is the final handoff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D744A1A-DBFA-4061-B47D-91305E74308A}"/>
              </a:ext>
            </a:extLst>
          </p:cNvPr>
          <p:cNvSpPr>
            <a:spLocks noGrp="1"/>
          </p:cNvSpPr>
          <p:nvPr/>
        </p:nvSpPr>
        <p:spPr>
          <a:xfrm>
            <a:off x="566928" y="749808"/>
            <a:ext cx="86868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B6670"/>
                </a:solidFill>
              </a:rPr>
              <a:t>PySpark finished successfully and wrote five Iceberg tables plus four Snowflake-ready CSV folders to S3.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5B5BDD-D8E5-4034-A60C-05B6548D825B}"/>
              </a:ext>
            </a:extLst>
          </p:cNvPr>
          <p:cNvSpPr>
            <a:spLocks noGrp="1"/>
          </p:cNvSpPr>
          <p:nvPr/>
        </p:nvSpPr>
        <p:spPr>
          <a:xfrm>
            <a:off x="2796284" y="1580868"/>
            <a:ext cx="219456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Confirmed in S3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BE36AA1-9AFF-4B68-9F92-3480891B8CC6}"/>
              </a:ext>
            </a:extLst>
          </p:cNvPr>
          <p:cNvSpPr>
            <a:spLocks noGrp="1"/>
          </p:cNvSpPr>
          <p:nvPr/>
        </p:nvSpPr>
        <p:spPr>
          <a:xfrm>
            <a:off x="2796284" y="2038068"/>
            <a:ext cx="3474720" cy="20574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/snowflake_stage/dim_customers/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/snowflake_stage/dim_products/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/snowflake_stage/fact_orders/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/snowflake_stage/dq_summary/</a:t>
            </a:r>
          </a:p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• CSV data files + _SUCCESS markers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576D4B-7A78-4267-A3A6-1E58586EC855}"/>
              </a:ext>
            </a:extLst>
          </p:cNvPr>
          <p:cNvSpPr>
            <a:spLocks noGrp="1"/>
          </p:cNvSpPr>
          <p:nvPr/>
        </p:nvSpPr>
        <p:spPr>
          <a:xfrm>
            <a:off x="7178040" y="1580868"/>
            <a:ext cx="256032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>
              <a:buNone/>
            </a:pPr>
            <a:r>
              <a:rPr sz="1800" b="1">
                <a:solidFill>
                  <a:srgbClr val="12395B"/>
                </a:solidFill>
              </a:rPr>
              <a:t>Run next in Snowflake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8DED-7541-4E48-855C-B012787CB0CE}"/>
              </a:ext>
            </a:extLst>
          </p:cNvPr>
          <p:cNvSpPr>
            <a:spLocks noGrp="1"/>
          </p:cNvSpPr>
          <p:nvPr/>
        </p:nvSpPr>
        <p:spPr>
          <a:xfrm>
            <a:off x="7178040" y="2038068"/>
            <a:ext cx="2834640" cy="16459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9931"/>
          </a:bodyPr>
          <a:lstStyle/>
          <a:p>
            <a:pPr marL="0" indent="0">
              <a:buNone/>
            </a:pPr>
            <a:r>
              <a:rPr sz="1500">
                <a:solidFill>
                  <a:srgbClr val="1B1F24"/>
                </a:solidFill>
              </a:rPr>
              <a:t>1  01_snowflake_ddl.sql
2  02_snowflake_load.sql
3  03_validation_queries.sql
4  04_analytics_queries.sql
Expected tables: 20 customers, 20 products, 11 orders, plus DQ summary.</a:t>
            </a:r>
          </a:p>
        </p:txBody>
      </p:sp>
    </p:spTree>
    <p:extLst>
      <p:ext uri="{BB962C8B-B14F-4D97-AF65-F5344CB8AC3E}">
        <p14:creationId xmlns:p14="http://schemas.microsoft.com/office/powerpoint/2010/main" val="1116036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754</Words>
  <Application>Microsoft Office PowerPoint</Application>
  <DocSecurity>0</DocSecurity>
  <PresentationFormat>Widescreen</PresentationFormat>
  <Paragraphs>125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Aptos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Yesgat, Duchyas</cp:lastModifiedBy>
  <cp:revision>2</cp:revision>
  <dcterms:created xsi:type="dcterms:W3CDTF">2026-07-24T05:58:28Z</dcterms:created>
  <dcterms:modified xsi:type="dcterms:W3CDTF">2026-07-24T06:04:53Z</dcterms:modified>
</cp:coreProperties>
</file>